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walk you through how Malon Labs Consulting can help your organization become more efficient and competitive through practical AI implementation. This is not about futuristic technology — it's about tools available today that can save your team hours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what we're hearing from businesses across Tanzania. These are not hypothetical problems — these are real challenges our clients face every day. The key insight is that the technology exists to solve these problems, but most businesses don't know where to start or who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here's the exciting part — the market is ready. WhatsApp Business is already mainstream in Tanzania, the government is pushing digitization, and businesses have both the budget and the motivation. We estimate the addressable market for AI consulting in Tanzania at hundreds of millions of shillings annually, and it's virtually untapped. The first movers will capture enormous market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Malon Labs is not just a consulting firm — we are a full-service technology company. This means that when we recommend a solution, we can also build it, deploy it, and support it. Our clients get one partner for the entire journey, not three different vendors who don't talk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is structured into four clear phases. We don't just give advice — we walk with you through the entire journey from discovery to deployment. Each phase builds on the previous one, and we don't move forward until you're satisfied with the results. The key differentiator is that we always start with understanding your specific business, not pushing generic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concrete examples of what our consulting engagements deliver. These are not theoretical — these are real implementations we can set up for your organization. The key point is that every recommendation is matched to your specific needs, budget, and technical environment. We don't push tools that won't work with your internet connection or your team's skill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examples of the kind of results we deliver. These statistics represent typical outcomes from AI consulting engagements with businesses similar to yours. When we work with your organization, we'll set specific, measurable targets like these and track progress against them. Customize these with actual case studies once you have completed pilot engagements.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one-size-fits-all. Here are concrete examples of what AI can do in specific industries. When we work with a client, we identify the highest-impact opportunities for their specific sector and prioritize the ones that are easiest to implement first. This builds internal confidence and buy-in before we tackle larger, more complex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a critical part of every engagement. Technology without adoption is wasted investment. Our training approach is designed for adult learners — short sessions spread over time, with practice in between. We don't do 8-hour marathons. We start with building basic AI literacy across the whole organization, then go deeper with department-specific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offer three engagement levels to match different organization sizes and needs. Tier 1 Jumpstart is perfect for SMEs who want to test the waters — it's a 2-3 day engagement that gives immediate results. Tier 2 Transform is our most popular option for mid-size companies who want a full implementation. Tier 3 Enterprise is for large organizations needing comprehensive digital transformation. All prices are negotiable based 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potential return on investment. For a typical Tier 2 engagement at TZS 15 million, we typically see savings of 15+ hours per week across departments. That translates to significant cost savings within the first quarter alone. We measure ROI rigorously and include it in our final report. The retainer model ensures you continue to capture value long after the initial engagement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key differentiator slide. Emphasize that we are local, practical, and integrated. Most global consulting firms charge 10x more and deliver generic recommendations. We understand Tanzanian infrastructure, business culture, and regulatory environment. And because we also build software and manage IT, we can implement everything we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what the engagement actually looks like from their perspective. This removes uncertainty and makes it easy to say yes. Emphasize that Step 1 — the free consultation — has no obligation. We want to earn their trust before asking for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closing slide. Make the ask clearly — invite them to book the free consultation. Have the WhatsApp QR code or link ready to share immediately. Leave this slide up during Q&amp;A so the contact information stays visible. Thank them for their time and express genuine interest in helping their specific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1E2637"/>
        </a:solidFill>
      </p:bgPr>
    </p:bg>
    <p:spTree>
      <p:nvGrpSpPr>
        <p:cNvPr id="1" name=""/>
        <p:cNvGrpSpPr/>
        <p:nvPr/>
      </p:nvGrpSpPr>
      <p:grpSpPr>
        <a:xfrm>
          <a:off x="0" y="0"/>
          <a:ext cx="0" cy="0"/>
          <a:chOff x="0" y="0"/>
          <a:chExt cx="0" cy="0"/>
        </a:xfrm>
      </p:grpSpPr>
      <p:sp>
        <p:nvSpPr>
          <p:cNvPr id="2" name="Shape 0"/>
          <p:cNvSpPr/>
          <p:nvPr/>
        </p:nvSpPr>
        <p:spPr>
          <a:xfrm>
            <a:off x="0" y="6400800"/>
            <a:ext cx="12192000" cy="457200"/>
          </a:xfrm>
          <a:prstGeom prst="rect">
            <a:avLst/>
          </a:prstGeom>
          <a:solidFill>
            <a:srgbClr val="141C2B"/>
          </a:solidFill>
          <a:ln/>
        </p:spPr>
      </p:sp>
      <p:pic>
        <p:nvPicPr>
          <p:cNvPr id="3" name="Image 0" descr="preencoded.png">    </p:cNvPr>
          <p:cNvPicPr>
            <a:picLocks noChangeAspect="1"/>
          </p:cNvPicPr>
          <p:nvPr/>
        </p:nvPicPr>
        <p:blipFill>
          <a:blip r:embed="rId1"/>
          <a:stretch>
            <a:fillRect/>
          </a:stretch>
        </p:blipFill>
        <p:spPr>
          <a:xfrm>
            <a:off x="365760" y="6446520"/>
            <a:ext cx="320040" cy="320040"/>
          </a:xfrm>
          <a:prstGeom prst="rect">
            <a:avLst/>
          </a:prstGeom>
        </p:spPr>
      </p:pic>
      <p:sp>
        <p:nvSpPr>
          <p:cNvPr id="4" name="Text 1"/>
          <p:cNvSpPr/>
          <p:nvPr/>
        </p:nvSpPr>
        <p:spPr>
          <a:xfrm>
            <a:off x="777240" y="6446520"/>
            <a:ext cx="2743200" cy="365760"/>
          </a:xfrm>
          <a:prstGeom prst="rect">
            <a:avLst/>
          </a:prstGeom>
          <a:noFill/>
          <a:ln/>
        </p:spPr>
        <p:txBody>
          <a:bodyPr wrap="square" rtlCol="0" anchor="ctr"/>
          <a:lstStyle/>
          <a:p>
            <a:pPr indent="0" marL="0">
              <a:buNone/>
            </a:pPr>
            <a:r>
              <a:rPr lang="en-US" sz="900" dirty="0">
                <a:solidFill>
                  <a:srgbClr val="718096"/>
                </a:solidFill>
                <a:latin typeface="Calibri" pitchFamily="34" charset="0"/>
                <a:ea typeface="Calibri" pitchFamily="34" charset="-122"/>
                <a:cs typeface="Calibri" pitchFamily="34" charset="-120"/>
              </a:rPr>
              <a:t>Malon Labs Consulting</a:t>
            </a:r>
            <a:endParaRPr lang="en-US" sz="900" dirty="0"/>
          </a:p>
        </p:txBody>
      </p:sp>
      <p:sp>
        <p:nvSpPr>
          <p:cNvPr id="5" name="Text 2"/>
          <p:cNvSpPr/>
          <p:nvPr/>
        </p:nvSpPr>
        <p:spPr>
          <a:xfrm>
            <a:off x="11247120" y="6446520"/>
            <a:ext cx="640080" cy="365760"/>
          </a:xfrm>
          <a:prstGeom prst="rect">
            <a:avLst/>
          </a:prstGeom>
          <a:noFill/>
          <a:ln/>
        </p:spPr>
        <p:txBody>
          <a:bodyPr wrap="square" rtlCol="0" anchor="ctr"/>
          <a:lstStyle/>
          <a:p>
            <a:pPr algn="r" indent="0" marL="0">
              <a:buNone/>
            </a:pPr>
            <a:r>
              <a:rPr lang="en-US" sz="900" dirty="0">
                <a:solidFill>
                  <a:srgbClr val="718096"/>
                </a:solidFill>
                <a:latin typeface="Calibri" pitchFamily="34" charset="0"/>
                <a:ea typeface="Calibri" pitchFamily="34" charset="-122"/>
                <a:cs typeface="Calibri" pitchFamily="34" charset="-120"/>
              </a:rPr>
              <a:t>{{slideNumber}}</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1A8F6E"/>
          </a:solidFill>
          <a:ln/>
        </p:spPr>
      </p:sp>
      <p:sp>
        <p:nvSpPr>
          <p:cNvPr id="3" name="Shape 1"/>
          <p:cNvSpPr/>
          <p:nvPr/>
        </p:nvSpPr>
        <p:spPr>
          <a:xfrm>
            <a:off x="0" y="6400800"/>
            <a:ext cx="12192000" cy="457200"/>
          </a:xfrm>
          <a:prstGeom prst="rect">
            <a:avLst/>
          </a:prstGeom>
          <a:solidFill>
            <a:srgbClr val="1E2637"/>
          </a:solidFill>
          <a:ln/>
        </p:spPr>
      </p:sp>
      <p:pic>
        <p:nvPicPr>
          <p:cNvPr id="4" name="Image 0" descr="preencoded.png">    </p:cNvPr>
          <p:cNvPicPr>
            <a:picLocks noChangeAspect="1"/>
          </p:cNvPicPr>
          <p:nvPr/>
        </p:nvPicPr>
        <p:blipFill>
          <a:blip r:embed="rId1"/>
          <a:stretch>
            <a:fillRect/>
          </a:stretch>
        </p:blipFill>
        <p:spPr>
          <a:xfrm>
            <a:off x="365760" y="6446520"/>
            <a:ext cx="320040" cy="320040"/>
          </a:xfrm>
          <a:prstGeom prst="rect">
            <a:avLst/>
          </a:prstGeom>
        </p:spPr>
      </p:pic>
      <p:sp>
        <p:nvSpPr>
          <p:cNvPr id="5" name="Text 2"/>
          <p:cNvSpPr/>
          <p:nvPr/>
        </p:nvSpPr>
        <p:spPr>
          <a:xfrm>
            <a:off x="777240" y="6446520"/>
            <a:ext cx="27432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Malon Labs Consulting</a:t>
            </a:r>
            <a:endParaRPr lang="en-US" sz="900" dirty="0"/>
          </a:p>
        </p:txBody>
      </p:sp>
      <p:sp>
        <p:nvSpPr>
          <p:cNvPr id="6" name="Text 3"/>
          <p:cNvSpPr/>
          <p:nvPr/>
        </p:nvSpPr>
        <p:spPr>
          <a:xfrm>
            <a:off x="11247120" y="6446520"/>
            <a:ext cx="640080" cy="36576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{{slideNumber}}</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4937760" y="914400"/>
            <a:ext cx="2286000" cy="2286000"/>
          </a:xfrm>
          <a:prstGeom prst="rect">
            <a:avLst/>
          </a:prstGeom>
        </p:spPr>
      </p:pic>
      <p:sp>
        <p:nvSpPr>
          <p:cNvPr id="4" name="Text 0"/>
          <p:cNvSpPr/>
          <p:nvPr/>
        </p:nvSpPr>
        <p:spPr>
          <a:xfrm>
            <a:off x="640080" y="3383280"/>
            <a:ext cx="10881360" cy="822960"/>
          </a:xfrm>
          <a:prstGeom prst="rect">
            <a:avLst/>
          </a:prstGeom>
          <a:noFill/>
          <a:ln/>
        </p:spPr>
        <p:txBody>
          <a:bodyPr wrap="square"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Malon Labs Consulting</a:t>
            </a:r>
            <a:endParaRPr lang="en-US" sz="4200" dirty="0"/>
          </a:p>
        </p:txBody>
      </p:sp>
      <p:sp>
        <p:nvSpPr>
          <p:cNvPr id="5" name="Text 1"/>
          <p:cNvSpPr/>
          <p:nvPr/>
        </p:nvSpPr>
        <p:spPr>
          <a:xfrm>
            <a:off x="640080" y="4114800"/>
            <a:ext cx="10881360" cy="548640"/>
          </a:xfrm>
          <a:prstGeom prst="rect">
            <a:avLst/>
          </a:prstGeom>
          <a:noFill/>
          <a:ln/>
        </p:spPr>
        <p:txBody>
          <a:bodyPr wrap="square" rtlCol="0" anchor="ctr"/>
          <a:lstStyle/>
          <a:p>
            <a:pPr algn="ctr" indent="0" marL="0">
              <a:buNone/>
            </a:pPr>
            <a:r>
              <a:rPr lang="en-US" sz="2000" i="1" dirty="0">
                <a:solidFill>
                  <a:srgbClr val="1A8F6E"/>
                </a:solidFill>
                <a:latin typeface="Calibri" pitchFamily="34" charset="0"/>
                <a:ea typeface="Calibri" pitchFamily="34" charset="-122"/>
                <a:cs typeface="Calibri" pitchFamily="34" charset="-120"/>
              </a:rPr>
              <a:t>Smarter Operations. Stronger Business.</a:t>
            </a:r>
            <a:endParaRPr lang="en-US" sz="2000" dirty="0"/>
          </a:p>
        </p:txBody>
      </p:sp>
      <p:sp>
        <p:nvSpPr>
          <p:cNvPr id="6" name="Text 2"/>
          <p:cNvSpPr/>
          <p:nvPr/>
        </p:nvSpPr>
        <p:spPr>
          <a:xfrm>
            <a:off x="640080" y="4846320"/>
            <a:ext cx="10881360" cy="457200"/>
          </a:xfrm>
          <a:prstGeom prst="rect">
            <a:avLst/>
          </a:prstGeom>
          <a:noFill/>
          <a:ln/>
        </p:spPr>
        <p:txBody>
          <a:bodyPr wrap="square" rtlCol="0" anchor="ctr"/>
          <a:lstStyle/>
          <a:p>
            <a:pPr algn="ctr" indent="0" marL="0">
              <a:buNone/>
            </a:pPr>
            <a:r>
              <a:rPr lang="en-US" sz="1600" dirty="0">
                <a:solidFill>
                  <a:srgbClr val="718096"/>
                </a:solidFill>
                <a:latin typeface="Calibri" pitchFamily="34" charset="0"/>
                <a:ea typeface="Calibri" pitchFamily="34" charset="-122"/>
                <a:cs typeface="Calibri" pitchFamily="34" charset="-120"/>
              </a:rPr>
              <a:t>AI &amp; IT Consulting for Tanzanian Businesses</a:t>
            </a:r>
            <a:endParaRPr lang="en-US" sz="1600" dirty="0"/>
          </a:p>
        </p:txBody>
      </p:sp>
      <p:sp>
        <p:nvSpPr>
          <p:cNvPr id="7" name="Shape 3"/>
          <p:cNvSpPr/>
          <p:nvPr/>
        </p:nvSpPr>
        <p:spPr>
          <a:xfrm>
            <a:off x="4754880" y="4663440"/>
            <a:ext cx="2651760" cy="36576"/>
          </a:xfrm>
          <a:prstGeom prst="rect">
            <a:avLst/>
          </a:prstGeom>
          <a:solidFill>
            <a:srgbClr val="1A8F6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1E2637"/>
                </a:solidFill>
                <a:latin typeface="Calibri" pitchFamily="34" charset="0"/>
                <a:ea typeface="Calibri" pitchFamily="34" charset="-122"/>
                <a:cs typeface="Calibri" pitchFamily="34" charset="-120"/>
              </a:rPr>
              <a:t>The Problem</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718096"/>
                </a:solidFill>
                <a:latin typeface="Calibri" pitchFamily="34" charset="0"/>
                <a:ea typeface="Calibri" pitchFamily="34" charset="-122"/>
                <a:cs typeface="Calibri" pitchFamily="34" charset="-120"/>
              </a:rPr>
              <a:t>What Tanzanian businesses are struggling with today</a:t>
            </a:r>
            <a:endParaRPr lang="en-US" sz="1600" dirty="0"/>
          </a:p>
        </p:txBody>
      </p:sp>
      <p:sp>
        <p:nvSpPr>
          <p:cNvPr id="5" name="Shape 2"/>
          <p:cNvSpPr/>
          <p:nvPr/>
        </p:nvSpPr>
        <p:spPr>
          <a:xfrm>
            <a:off x="640080" y="1645920"/>
            <a:ext cx="530352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6" name="Shape 3"/>
          <p:cNvSpPr/>
          <p:nvPr/>
        </p:nvSpPr>
        <p:spPr>
          <a:xfrm>
            <a:off x="914400" y="1965960"/>
            <a:ext cx="548640" cy="548640"/>
          </a:xfrm>
          <a:prstGeom prst="ellipse">
            <a:avLst/>
          </a:prstGeom>
          <a:solidFill>
            <a:srgbClr val="1A8F6E"/>
          </a:solidFill>
          <a:ln/>
        </p:spPr>
      </p:sp>
      <p:sp>
        <p:nvSpPr>
          <p:cNvPr id="7" name="Text 4"/>
          <p:cNvSpPr/>
          <p:nvPr/>
        </p:nvSpPr>
        <p:spPr>
          <a:xfrm>
            <a:off x="914400" y="196596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8" name="Text 5"/>
          <p:cNvSpPr/>
          <p:nvPr/>
        </p:nvSpPr>
        <p:spPr>
          <a:xfrm>
            <a:off x="1645920" y="1920240"/>
            <a:ext cx="3840480" cy="411480"/>
          </a:xfrm>
          <a:prstGeom prst="rect">
            <a:avLst/>
          </a:prstGeom>
          <a:noFill/>
          <a:ln/>
        </p:spPr>
        <p:txBody>
          <a:bodyPr wrap="square" rtlCol="0" anchor="ctr"/>
          <a:lstStyle/>
          <a:p>
            <a:pPr indent="0" marL="0">
              <a:buNone/>
            </a:pPr>
            <a:r>
              <a:rPr lang="en-US" sz="1800" b="1" dirty="0">
                <a:solidFill>
                  <a:srgbClr val="1E2637"/>
                </a:solidFill>
                <a:latin typeface="Calibri" pitchFamily="34" charset="0"/>
                <a:ea typeface="Calibri" pitchFamily="34" charset="-122"/>
                <a:cs typeface="Calibri" pitchFamily="34" charset="-120"/>
              </a:rPr>
              <a:t>Awareness Gap</a:t>
            </a:r>
            <a:endParaRPr lang="en-US" sz="1800" dirty="0"/>
          </a:p>
        </p:txBody>
      </p:sp>
      <p:sp>
        <p:nvSpPr>
          <p:cNvPr id="9" name="Text 6"/>
          <p:cNvSpPr/>
          <p:nvPr/>
        </p:nvSpPr>
        <p:spPr>
          <a:xfrm>
            <a:off x="914400" y="2560320"/>
            <a:ext cx="4754880" cy="822960"/>
          </a:xfrm>
          <a:prstGeom prst="rect">
            <a:avLst/>
          </a:prstGeom>
          <a:noFill/>
          <a:ln/>
        </p:spPr>
        <p:txBody>
          <a:bodyPr wrap="square" rtlCol="0" anchor="ctr"/>
          <a:lstStyle/>
          <a:p>
            <a:pPr indent="0" marL="0">
              <a:lnSpc>
                <a:spcPct val="120000"/>
              </a:lnSpc>
              <a:buNone/>
            </a:pPr>
            <a:r>
              <a:rPr lang="en-US" sz="1300" dirty="0">
                <a:solidFill>
                  <a:srgbClr val="2D3748"/>
                </a:solidFill>
                <a:latin typeface="Calibri" pitchFamily="34" charset="0"/>
                <a:ea typeface="Calibri" pitchFamily="34" charset="-122"/>
                <a:cs typeface="Calibri" pitchFamily="34" charset="-120"/>
              </a:rPr>
              <a:t>Businesses know AI exists but don't know how to apply it to their operations</a:t>
            </a:r>
            <a:endParaRPr lang="en-US" sz="1300" dirty="0"/>
          </a:p>
        </p:txBody>
      </p:sp>
      <p:sp>
        <p:nvSpPr>
          <p:cNvPr id="10" name="Shape 7"/>
          <p:cNvSpPr/>
          <p:nvPr/>
        </p:nvSpPr>
        <p:spPr>
          <a:xfrm>
            <a:off x="6263640" y="1645920"/>
            <a:ext cx="530352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11" name="Shape 8"/>
          <p:cNvSpPr/>
          <p:nvPr/>
        </p:nvSpPr>
        <p:spPr>
          <a:xfrm>
            <a:off x="6537960" y="1965960"/>
            <a:ext cx="548640" cy="548640"/>
          </a:xfrm>
          <a:prstGeom prst="ellipse">
            <a:avLst/>
          </a:prstGeom>
          <a:solidFill>
            <a:srgbClr val="1A8F6E"/>
          </a:solidFill>
          <a:ln/>
        </p:spPr>
      </p:sp>
      <p:sp>
        <p:nvSpPr>
          <p:cNvPr id="12" name="Text 9"/>
          <p:cNvSpPr/>
          <p:nvPr/>
        </p:nvSpPr>
        <p:spPr>
          <a:xfrm>
            <a:off x="6537960" y="196596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3" name="Text 10"/>
          <p:cNvSpPr/>
          <p:nvPr/>
        </p:nvSpPr>
        <p:spPr>
          <a:xfrm>
            <a:off x="7269480" y="1920240"/>
            <a:ext cx="3840480" cy="411480"/>
          </a:xfrm>
          <a:prstGeom prst="rect">
            <a:avLst/>
          </a:prstGeom>
          <a:noFill/>
          <a:ln/>
        </p:spPr>
        <p:txBody>
          <a:bodyPr wrap="square" rtlCol="0" anchor="ctr"/>
          <a:lstStyle/>
          <a:p>
            <a:pPr indent="0" marL="0">
              <a:buNone/>
            </a:pPr>
            <a:r>
              <a:rPr lang="en-US" sz="1800" b="1" dirty="0">
                <a:solidFill>
                  <a:srgbClr val="1E2637"/>
                </a:solidFill>
                <a:latin typeface="Calibri" pitchFamily="34" charset="0"/>
                <a:ea typeface="Calibri" pitchFamily="34" charset="-122"/>
                <a:cs typeface="Calibri" pitchFamily="34" charset="-120"/>
              </a:rPr>
              <a:t>No Local Expertise</a:t>
            </a:r>
            <a:endParaRPr lang="en-US" sz="1800" dirty="0"/>
          </a:p>
        </p:txBody>
      </p:sp>
      <p:sp>
        <p:nvSpPr>
          <p:cNvPr id="14" name="Text 11"/>
          <p:cNvSpPr/>
          <p:nvPr/>
        </p:nvSpPr>
        <p:spPr>
          <a:xfrm>
            <a:off x="6537960" y="2560320"/>
            <a:ext cx="4754880" cy="822960"/>
          </a:xfrm>
          <a:prstGeom prst="rect">
            <a:avLst/>
          </a:prstGeom>
          <a:noFill/>
          <a:ln/>
        </p:spPr>
        <p:txBody>
          <a:bodyPr wrap="square" rtlCol="0" anchor="ctr"/>
          <a:lstStyle/>
          <a:p>
            <a:pPr indent="0" marL="0">
              <a:lnSpc>
                <a:spcPct val="120000"/>
              </a:lnSpc>
              <a:buNone/>
            </a:pPr>
            <a:r>
              <a:rPr lang="en-US" sz="1300" dirty="0">
                <a:solidFill>
                  <a:srgbClr val="2D3748"/>
                </a:solidFill>
                <a:latin typeface="Calibri" pitchFamily="34" charset="0"/>
                <a:ea typeface="Calibri" pitchFamily="34" charset="-122"/>
                <a:cs typeface="Calibri" pitchFamily="34" charset="-120"/>
              </a:rPr>
              <a:t>No Tanzanian consulting firms specialize in practical AI implementation</a:t>
            </a:r>
            <a:endParaRPr lang="en-US" sz="1300" dirty="0"/>
          </a:p>
        </p:txBody>
      </p:sp>
      <p:sp>
        <p:nvSpPr>
          <p:cNvPr id="15" name="Shape 12"/>
          <p:cNvSpPr/>
          <p:nvPr/>
        </p:nvSpPr>
        <p:spPr>
          <a:xfrm>
            <a:off x="640080" y="3931920"/>
            <a:ext cx="530352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16" name="Shape 13"/>
          <p:cNvSpPr/>
          <p:nvPr/>
        </p:nvSpPr>
        <p:spPr>
          <a:xfrm>
            <a:off x="914400" y="4251960"/>
            <a:ext cx="548640" cy="548640"/>
          </a:xfrm>
          <a:prstGeom prst="ellipse">
            <a:avLst/>
          </a:prstGeom>
          <a:solidFill>
            <a:srgbClr val="F5A623"/>
          </a:solidFill>
          <a:ln/>
        </p:spPr>
      </p:sp>
      <p:sp>
        <p:nvSpPr>
          <p:cNvPr id="17" name="Text 14"/>
          <p:cNvSpPr/>
          <p:nvPr/>
        </p:nvSpPr>
        <p:spPr>
          <a:xfrm>
            <a:off x="914400" y="425196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5"/>
          <p:cNvSpPr/>
          <p:nvPr/>
        </p:nvSpPr>
        <p:spPr>
          <a:xfrm>
            <a:off x="1645920" y="4206240"/>
            <a:ext cx="3840480" cy="411480"/>
          </a:xfrm>
          <a:prstGeom prst="rect">
            <a:avLst/>
          </a:prstGeom>
          <a:noFill/>
          <a:ln/>
        </p:spPr>
        <p:txBody>
          <a:bodyPr wrap="square" rtlCol="0" anchor="ctr"/>
          <a:lstStyle/>
          <a:p>
            <a:pPr indent="0" marL="0">
              <a:buNone/>
            </a:pPr>
            <a:r>
              <a:rPr lang="en-US" sz="1800" b="1" dirty="0">
                <a:solidFill>
                  <a:srgbClr val="1E2637"/>
                </a:solidFill>
                <a:latin typeface="Calibri" pitchFamily="34" charset="0"/>
                <a:ea typeface="Calibri" pitchFamily="34" charset="-122"/>
                <a:cs typeface="Calibri" pitchFamily="34" charset="-120"/>
              </a:rPr>
              <a:t>Wasted Hours</a:t>
            </a:r>
            <a:endParaRPr lang="en-US" sz="1800" dirty="0"/>
          </a:p>
        </p:txBody>
      </p:sp>
      <p:sp>
        <p:nvSpPr>
          <p:cNvPr id="19" name="Text 16"/>
          <p:cNvSpPr/>
          <p:nvPr/>
        </p:nvSpPr>
        <p:spPr>
          <a:xfrm>
            <a:off x="914400" y="4846320"/>
            <a:ext cx="4754880" cy="822960"/>
          </a:xfrm>
          <a:prstGeom prst="rect">
            <a:avLst/>
          </a:prstGeom>
          <a:noFill/>
          <a:ln/>
        </p:spPr>
        <p:txBody>
          <a:bodyPr wrap="square" rtlCol="0" anchor="ctr"/>
          <a:lstStyle/>
          <a:p>
            <a:pPr indent="0" marL="0">
              <a:lnSpc>
                <a:spcPct val="120000"/>
              </a:lnSpc>
              <a:buNone/>
            </a:pPr>
            <a:r>
              <a:rPr lang="en-US" sz="1300" dirty="0">
                <a:solidFill>
                  <a:srgbClr val="2D3748"/>
                </a:solidFill>
                <a:latin typeface="Calibri" pitchFamily="34" charset="0"/>
                <a:ea typeface="Calibri" pitchFamily="34" charset="-122"/>
                <a:cs typeface="Calibri" pitchFamily="34" charset="-120"/>
              </a:rPr>
              <a:t>Teams spend 20-40 hours/week on manual tasks that AI could handle in minutes</a:t>
            </a:r>
            <a:endParaRPr lang="en-US" sz="1300" dirty="0"/>
          </a:p>
        </p:txBody>
      </p:sp>
      <p:sp>
        <p:nvSpPr>
          <p:cNvPr id="20" name="Shape 17"/>
          <p:cNvSpPr/>
          <p:nvPr/>
        </p:nvSpPr>
        <p:spPr>
          <a:xfrm>
            <a:off x="6263640" y="3931920"/>
            <a:ext cx="530352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21" name="Shape 18"/>
          <p:cNvSpPr/>
          <p:nvPr/>
        </p:nvSpPr>
        <p:spPr>
          <a:xfrm>
            <a:off x="6537960" y="4251960"/>
            <a:ext cx="548640" cy="548640"/>
          </a:xfrm>
          <a:prstGeom prst="ellipse">
            <a:avLst/>
          </a:prstGeom>
          <a:solidFill>
            <a:srgbClr val="F5A623"/>
          </a:solidFill>
          <a:ln/>
        </p:spPr>
      </p:sp>
      <p:sp>
        <p:nvSpPr>
          <p:cNvPr id="22" name="Text 19"/>
          <p:cNvSpPr/>
          <p:nvPr/>
        </p:nvSpPr>
        <p:spPr>
          <a:xfrm>
            <a:off x="6537960" y="425196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3" name="Text 20"/>
          <p:cNvSpPr/>
          <p:nvPr/>
        </p:nvSpPr>
        <p:spPr>
          <a:xfrm>
            <a:off x="7269480" y="4206240"/>
            <a:ext cx="3840480" cy="411480"/>
          </a:xfrm>
          <a:prstGeom prst="rect">
            <a:avLst/>
          </a:prstGeom>
          <a:noFill/>
          <a:ln/>
        </p:spPr>
        <p:txBody>
          <a:bodyPr wrap="square" rtlCol="0" anchor="ctr"/>
          <a:lstStyle/>
          <a:p>
            <a:pPr indent="0" marL="0">
              <a:buNone/>
            </a:pPr>
            <a:r>
              <a:rPr lang="en-US" sz="1800" b="1" dirty="0">
                <a:solidFill>
                  <a:srgbClr val="1E2637"/>
                </a:solidFill>
                <a:latin typeface="Calibri" pitchFamily="34" charset="0"/>
                <a:ea typeface="Calibri" pitchFamily="34" charset="-122"/>
                <a:cs typeface="Calibri" pitchFamily="34" charset="-120"/>
              </a:rPr>
              <a:t>Fear &amp; Resistance</a:t>
            </a:r>
            <a:endParaRPr lang="en-US" sz="1800" dirty="0"/>
          </a:p>
        </p:txBody>
      </p:sp>
      <p:sp>
        <p:nvSpPr>
          <p:cNvPr id="24" name="Text 21"/>
          <p:cNvSpPr/>
          <p:nvPr/>
        </p:nvSpPr>
        <p:spPr>
          <a:xfrm>
            <a:off x="6537960" y="4846320"/>
            <a:ext cx="4754880" cy="822960"/>
          </a:xfrm>
          <a:prstGeom prst="rect">
            <a:avLst/>
          </a:prstGeom>
          <a:noFill/>
          <a:ln/>
        </p:spPr>
        <p:txBody>
          <a:bodyPr wrap="square" rtlCol="0" anchor="ctr"/>
          <a:lstStyle/>
          <a:p>
            <a:pPr indent="0" marL="0">
              <a:lnSpc>
                <a:spcPct val="120000"/>
              </a:lnSpc>
              <a:buNone/>
            </a:pPr>
            <a:r>
              <a:rPr lang="en-US" sz="1300" dirty="0">
                <a:solidFill>
                  <a:srgbClr val="2D3748"/>
                </a:solidFill>
                <a:latin typeface="Calibri" pitchFamily="34" charset="0"/>
                <a:ea typeface="Calibri" pitchFamily="34" charset="-122"/>
                <a:cs typeface="Calibri" pitchFamily="34" charset="-120"/>
              </a:rPr>
              <a:t>Staff worry about job displacement; leadership unsure about ROI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Opportunity</a:t>
            </a:r>
            <a:endParaRPr lang="en-US" sz="3200" dirty="0"/>
          </a:p>
        </p:txBody>
      </p:sp>
      <p:sp>
        <p:nvSpPr>
          <p:cNvPr id="4" name="Shape 1"/>
          <p:cNvSpPr/>
          <p:nvPr/>
        </p:nvSpPr>
        <p:spPr>
          <a:xfrm>
            <a:off x="640080" y="1188720"/>
            <a:ext cx="73152" cy="914400"/>
          </a:xfrm>
          <a:prstGeom prst="rect">
            <a:avLst/>
          </a:prstGeom>
          <a:solidFill>
            <a:srgbClr val="1A8F6E"/>
          </a:solidFill>
          <a:ln/>
        </p:spPr>
      </p:sp>
      <p:sp>
        <p:nvSpPr>
          <p:cNvPr id="5" name="Text 2"/>
          <p:cNvSpPr/>
          <p:nvPr/>
        </p:nvSpPr>
        <p:spPr>
          <a:xfrm>
            <a:off x="1005840" y="1188720"/>
            <a:ext cx="2743200" cy="411480"/>
          </a:xfrm>
          <a:prstGeom prst="rect">
            <a:avLst/>
          </a:prstGeom>
          <a:noFill/>
          <a:ln/>
        </p:spPr>
        <p:txBody>
          <a:bodyPr wrap="square" rtlCol="0" anchor="ctr"/>
          <a:lstStyle/>
          <a:p>
            <a:pPr indent="0" marL="0">
              <a:buNone/>
            </a:pPr>
            <a:r>
              <a:rPr lang="en-US" sz="2000" b="1" dirty="0">
                <a:solidFill>
                  <a:srgbClr val="1A8F6E"/>
                </a:solidFill>
                <a:latin typeface="Calibri" pitchFamily="34" charset="0"/>
                <a:ea typeface="Calibri" pitchFamily="34" charset="-122"/>
                <a:cs typeface="Calibri" pitchFamily="34" charset="-120"/>
              </a:rPr>
              <a:t>Growing</a:t>
            </a:r>
            <a:endParaRPr lang="en-US" sz="2000" dirty="0"/>
          </a:p>
        </p:txBody>
      </p:sp>
      <p:sp>
        <p:nvSpPr>
          <p:cNvPr id="6" name="Text 3"/>
          <p:cNvSpPr/>
          <p:nvPr/>
        </p:nvSpPr>
        <p:spPr>
          <a:xfrm>
            <a:off x="1005840" y="1600200"/>
            <a:ext cx="4572000" cy="457200"/>
          </a:xfrm>
          <a:prstGeom prst="rect">
            <a:avLst/>
          </a:prstGeom>
          <a:noFill/>
          <a:ln/>
        </p:spPr>
        <p:txBody>
          <a:bodyPr wrap="square" rtlCol="0" anchor="ctr"/>
          <a:lstStyle/>
          <a:p>
            <a:pPr indent="0" marL="0">
              <a:lnSpc>
                <a:spcPct val="120000"/>
              </a:lnSpc>
              <a:buNone/>
            </a:pPr>
            <a:r>
              <a:rPr lang="en-US" sz="1300" dirty="0">
                <a:solidFill>
                  <a:srgbClr val="E8EDF3"/>
                </a:solidFill>
                <a:latin typeface="Calibri" pitchFamily="34" charset="0"/>
                <a:ea typeface="Calibri" pitchFamily="34" charset="-122"/>
                <a:cs typeface="Calibri" pitchFamily="34" charset="-120"/>
              </a:rPr>
              <a:t>Private sector with increasing digital adoption</a:t>
            </a:r>
            <a:endParaRPr lang="en-US" sz="1300" dirty="0"/>
          </a:p>
        </p:txBody>
      </p:sp>
      <p:sp>
        <p:nvSpPr>
          <p:cNvPr id="7" name="Shape 4"/>
          <p:cNvSpPr/>
          <p:nvPr/>
        </p:nvSpPr>
        <p:spPr>
          <a:xfrm>
            <a:off x="640080" y="2377440"/>
            <a:ext cx="73152" cy="914400"/>
          </a:xfrm>
          <a:prstGeom prst="rect">
            <a:avLst/>
          </a:prstGeom>
          <a:solidFill>
            <a:srgbClr val="1A8F6E"/>
          </a:solidFill>
          <a:ln/>
        </p:spPr>
      </p:sp>
      <p:sp>
        <p:nvSpPr>
          <p:cNvPr id="8" name="Text 5"/>
          <p:cNvSpPr/>
          <p:nvPr/>
        </p:nvSpPr>
        <p:spPr>
          <a:xfrm>
            <a:off x="1005840" y="2377440"/>
            <a:ext cx="2743200" cy="411480"/>
          </a:xfrm>
          <a:prstGeom prst="rect">
            <a:avLst/>
          </a:prstGeom>
          <a:noFill/>
          <a:ln/>
        </p:spPr>
        <p:txBody>
          <a:bodyPr wrap="square" rtlCol="0" anchor="ctr"/>
          <a:lstStyle/>
          <a:p>
            <a:pPr indent="0" marL="0">
              <a:buNone/>
            </a:pPr>
            <a:r>
              <a:rPr lang="en-US" sz="2000" b="1" dirty="0">
                <a:solidFill>
                  <a:srgbClr val="1A8F6E"/>
                </a:solidFill>
                <a:latin typeface="Calibri" pitchFamily="34" charset="0"/>
                <a:ea typeface="Calibri" pitchFamily="34" charset="-122"/>
                <a:cs typeface="Calibri" pitchFamily="34" charset="-120"/>
              </a:rPr>
              <a:t>Mainstream</a:t>
            </a:r>
            <a:endParaRPr lang="en-US" sz="2000" dirty="0"/>
          </a:p>
        </p:txBody>
      </p:sp>
      <p:sp>
        <p:nvSpPr>
          <p:cNvPr id="9" name="Text 6"/>
          <p:cNvSpPr/>
          <p:nvPr/>
        </p:nvSpPr>
        <p:spPr>
          <a:xfrm>
            <a:off x="1005840" y="2788920"/>
            <a:ext cx="4572000" cy="457200"/>
          </a:xfrm>
          <a:prstGeom prst="rect">
            <a:avLst/>
          </a:prstGeom>
          <a:noFill/>
          <a:ln/>
        </p:spPr>
        <p:txBody>
          <a:bodyPr wrap="square" rtlCol="0" anchor="ctr"/>
          <a:lstStyle/>
          <a:p>
            <a:pPr indent="0" marL="0">
              <a:lnSpc>
                <a:spcPct val="120000"/>
              </a:lnSpc>
              <a:buNone/>
            </a:pPr>
            <a:r>
              <a:rPr lang="en-US" sz="1300" dirty="0">
                <a:solidFill>
                  <a:srgbClr val="E8EDF3"/>
                </a:solidFill>
                <a:latin typeface="Calibri" pitchFamily="34" charset="0"/>
                <a:ea typeface="Calibri" pitchFamily="34" charset="-122"/>
                <a:cs typeface="Calibri" pitchFamily="34" charset="-120"/>
              </a:rPr>
              <a:t>WhatsApp Business already widely adopted — next step is AI</a:t>
            </a:r>
            <a:endParaRPr lang="en-US" sz="1300" dirty="0"/>
          </a:p>
        </p:txBody>
      </p:sp>
      <p:sp>
        <p:nvSpPr>
          <p:cNvPr id="10" name="Shape 7"/>
          <p:cNvSpPr/>
          <p:nvPr/>
        </p:nvSpPr>
        <p:spPr>
          <a:xfrm>
            <a:off x="640080" y="3566160"/>
            <a:ext cx="73152" cy="914400"/>
          </a:xfrm>
          <a:prstGeom prst="rect">
            <a:avLst/>
          </a:prstGeom>
          <a:solidFill>
            <a:srgbClr val="1A8F6E"/>
          </a:solidFill>
          <a:ln/>
        </p:spPr>
      </p:sp>
      <p:sp>
        <p:nvSpPr>
          <p:cNvPr id="11" name="Text 8"/>
          <p:cNvSpPr/>
          <p:nvPr/>
        </p:nvSpPr>
        <p:spPr>
          <a:xfrm>
            <a:off x="1005840" y="3566160"/>
            <a:ext cx="2743200" cy="411480"/>
          </a:xfrm>
          <a:prstGeom prst="rect">
            <a:avLst/>
          </a:prstGeom>
          <a:noFill/>
          <a:ln/>
        </p:spPr>
        <p:txBody>
          <a:bodyPr wrap="square" rtlCol="0" anchor="ctr"/>
          <a:lstStyle/>
          <a:p>
            <a:pPr indent="0" marL="0">
              <a:buNone/>
            </a:pPr>
            <a:r>
              <a:rPr lang="en-US" sz="2000" b="1" dirty="0">
                <a:solidFill>
                  <a:srgbClr val="1A8F6E"/>
                </a:solidFill>
                <a:latin typeface="Calibri" pitchFamily="34" charset="0"/>
                <a:ea typeface="Calibri" pitchFamily="34" charset="-122"/>
                <a:cs typeface="Calibri" pitchFamily="34" charset="-120"/>
              </a:rPr>
              <a:t>Untapped</a:t>
            </a:r>
            <a:endParaRPr lang="en-US" sz="2000" dirty="0"/>
          </a:p>
        </p:txBody>
      </p:sp>
      <p:sp>
        <p:nvSpPr>
          <p:cNvPr id="12" name="Text 9"/>
          <p:cNvSpPr/>
          <p:nvPr/>
        </p:nvSpPr>
        <p:spPr>
          <a:xfrm>
            <a:off x="1005840" y="3977640"/>
            <a:ext cx="4572000" cy="457200"/>
          </a:xfrm>
          <a:prstGeom prst="rect">
            <a:avLst/>
          </a:prstGeom>
          <a:noFill/>
          <a:ln/>
        </p:spPr>
        <p:txBody>
          <a:bodyPr wrap="square" rtlCol="0" anchor="ctr"/>
          <a:lstStyle/>
          <a:p>
            <a:pPr indent="0" marL="0">
              <a:lnSpc>
                <a:spcPct val="120000"/>
              </a:lnSpc>
              <a:buNone/>
            </a:pPr>
            <a:r>
              <a:rPr lang="en-US" sz="1300" dirty="0">
                <a:solidFill>
                  <a:srgbClr val="E8EDF3"/>
                </a:solidFill>
                <a:latin typeface="Calibri" pitchFamily="34" charset="0"/>
                <a:ea typeface="Calibri" pitchFamily="34" charset="-122"/>
                <a:cs typeface="Calibri" pitchFamily="34" charset="-120"/>
              </a:rPr>
              <a:t>SME sector is massive and unserved for AI consulting</a:t>
            </a:r>
            <a:endParaRPr lang="en-US" sz="1300" dirty="0"/>
          </a:p>
        </p:txBody>
      </p:sp>
      <p:sp>
        <p:nvSpPr>
          <p:cNvPr id="13" name="Shape 10"/>
          <p:cNvSpPr/>
          <p:nvPr/>
        </p:nvSpPr>
        <p:spPr>
          <a:xfrm>
            <a:off x="640080" y="4754880"/>
            <a:ext cx="73152" cy="914400"/>
          </a:xfrm>
          <a:prstGeom prst="rect">
            <a:avLst/>
          </a:prstGeom>
          <a:solidFill>
            <a:srgbClr val="1A8F6E"/>
          </a:solidFill>
          <a:ln/>
        </p:spPr>
      </p:sp>
      <p:sp>
        <p:nvSpPr>
          <p:cNvPr id="14" name="Text 11"/>
          <p:cNvSpPr/>
          <p:nvPr/>
        </p:nvSpPr>
        <p:spPr>
          <a:xfrm>
            <a:off x="1005840" y="4754880"/>
            <a:ext cx="2743200" cy="411480"/>
          </a:xfrm>
          <a:prstGeom prst="rect">
            <a:avLst/>
          </a:prstGeom>
          <a:noFill/>
          <a:ln/>
        </p:spPr>
        <p:txBody>
          <a:bodyPr wrap="square" rtlCol="0" anchor="ctr"/>
          <a:lstStyle/>
          <a:p>
            <a:pPr indent="0" marL="0">
              <a:buNone/>
            </a:pPr>
            <a:r>
              <a:rPr lang="en-US" sz="2000" b="1" dirty="0">
                <a:solidFill>
                  <a:srgbClr val="1A8F6E"/>
                </a:solidFill>
                <a:latin typeface="Calibri" pitchFamily="34" charset="0"/>
                <a:ea typeface="Calibri" pitchFamily="34" charset="-122"/>
                <a:cs typeface="Calibri" pitchFamily="34" charset="-120"/>
              </a:rPr>
              <a:t>Top-Down</a:t>
            </a:r>
            <a:endParaRPr lang="en-US" sz="2000" dirty="0"/>
          </a:p>
        </p:txBody>
      </p:sp>
      <p:sp>
        <p:nvSpPr>
          <p:cNvPr id="15" name="Text 12"/>
          <p:cNvSpPr/>
          <p:nvPr/>
        </p:nvSpPr>
        <p:spPr>
          <a:xfrm>
            <a:off x="1005840" y="5166360"/>
            <a:ext cx="4572000" cy="457200"/>
          </a:xfrm>
          <a:prstGeom prst="rect">
            <a:avLst/>
          </a:prstGeom>
          <a:noFill/>
          <a:ln/>
        </p:spPr>
        <p:txBody>
          <a:bodyPr wrap="square" rtlCol="0" anchor="ctr"/>
          <a:lstStyle/>
          <a:p>
            <a:pPr indent="0" marL="0">
              <a:lnSpc>
                <a:spcPct val="120000"/>
              </a:lnSpc>
              <a:buNone/>
            </a:pPr>
            <a:r>
              <a:rPr lang="en-US" sz="1300" dirty="0">
                <a:solidFill>
                  <a:srgbClr val="E8EDF3"/>
                </a:solidFill>
                <a:latin typeface="Calibri" pitchFamily="34" charset="0"/>
                <a:ea typeface="Calibri" pitchFamily="34" charset="-122"/>
                <a:cs typeface="Calibri" pitchFamily="34" charset="-120"/>
              </a:rPr>
              <a:t>Government digitization agenda driving modernization</a:t>
            </a:r>
            <a:endParaRPr lang="en-US" sz="1300" dirty="0"/>
          </a:p>
        </p:txBody>
      </p:sp>
      <p:sp>
        <p:nvSpPr>
          <p:cNvPr id="16" name="Shape 13"/>
          <p:cNvSpPr/>
          <p:nvPr/>
        </p:nvSpPr>
        <p:spPr>
          <a:xfrm>
            <a:off x="6583680" y="1188720"/>
            <a:ext cx="5029200" cy="4754880"/>
          </a:xfrm>
          <a:prstGeom prst="roundRect">
            <a:avLst>
              <a:gd name="adj" fmla="val 2885"/>
            </a:avLst>
          </a:prstGeom>
          <a:solidFill>
            <a:srgbClr val="141C2B"/>
          </a:solidFill>
          <a:ln/>
        </p:spPr>
      </p:sp>
      <p:sp>
        <p:nvSpPr>
          <p:cNvPr id="17" name="Text 14"/>
          <p:cNvSpPr/>
          <p:nvPr/>
        </p:nvSpPr>
        <p:spPr>
          <a:xfrm>
            <a:off x="6858000" y="1371600"/>
            <a:ext cx="4572000" cy="457200"/>
          </a:xfrm>
          <a:prstGeom prst="rect">
            <a:avLst/>
          </a:prstGeom>
          <a:noFill/>
          <a:ln/>
        </p:spPr>
        <p:txBody>
          <a:bodyPr wrap="square" rtlCol="0" anchor="ctr"/>
          <a:lstStyle/>
          <a:p>
            <a:pPr indent="0" marL="0">
              <a:buNone/>
            </a:pPr>
            <a:r>
              <a:rPr lang="en-US" sz="1800" b="1" dirty="0">
                <a:solidFill>
                  <a:srgbClr val="F5A623"/>
                </a:solidFill>
                <a:latin typeface="Calibri" pitchFamily="34" charset="0"/>
                <a:ea typeface="Calibri" pitchFamily="34" charset="-122"/>
                <a:cs typeface="Calibri" pitchFamily="34" charset="-120"/>
              </a:rPr>
              <a:t>Target Sectors</a:t>
            </a:r>
            <a:endParaRPr lang="en-US" sz="1800" dirty="0"/>
          </a:p>
        </p:txBody>
      </p:sp>
      <p:sp>
        <p:nvSpPr>
          <p:cNvPr id="18" name="Text 15"/>
          <p:cNvSpPr/>
          <p:nvPr/>
        </p:nvSpPr>
        <p:spPr>
          <a:xfrm>
            <a:off x="7040880" y="19659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Banking &amp; Financial Services</a:t>
            </a:r>
            <a:endParaRPr lang="en-US" sz="1300" dirty="0"/>
          </a:p>
        </p:txBody>
      </p:sp>
      <p:sp>
        <p:nvSpPr>
          <p:cNvPr id="19" name="Text 16"/>
          <p:cNvSpPr/>
          <p:nvPr/>
        </p:nvSpPr>
        <p:spPr>
          <a:xfrm>
            <a:off x="7040880" y="24231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Telecommunications</a:t>
            </a:r>
            <a:endParaRPr lang="en-US" sz="1300" dirty="0"/>
          </a:p>
        </p:txBody>
      </p:sp>
      <p:sp>
        <p:nvSpPr>
          <p:cNvPr id="20" name="Text 17"/>
          <p:cNvSpPr/>
          <p:nvPr/>
        </p:nvSpPr>
        <p:spPr>
          <a:xfrm>
            <a:off x="7040880" y="28803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Healthcare &amp; Pharmaceuticals</a:t>
            </a:r>
            <a:endParaRPr lang="en-US" sz="1300" dirty="0"/>
          </a:p>
        </p:txBody>
      </p:sp>
      <p:sp>
        <p:nvSpPr>
          <p:cNvPr id="21" name="Text 18"/>
          <p:cNvSpPr/>
          <p:nvPr/>
        </p:nvSpPr>
        <p:spPr>
          <a:xfrm>
            <a:off x="7040880" y="33375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NGOs &amp; International Organizations</a:t>
            </a:r>
            <a:endParaRPr lang="en-US" sz="1300" dirty="0"/>
          </a:p>
        </p:txBody>
      </p:sp>
      <p:sp>
        <p:nvSpPr>
          <p:cNvPr id="22" name="Text 19"/>
          <p:cNvSpPr/>
          <p:nvPr/>
        </p:nvSpPr>
        <p:spPr>
          <a:xfrm>
            <a:off x="7040880" y="37947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Logistics &amp; Supply Chain</a:t>
            </a:r>
            <a:endParaRPr lang="en-US" sz="1300" dirty="0"/>
          </a:p>
        </p:txBody>
      </p:sp>
      <p:sp>
        <p:nvSpPr>
          <p:cNvPr id="23" name="Text 20"/>
          <p:cNvSpPr/>
          <p:nvPr/>
        </p:nvSpPr>
        <p:spPr>
          <a:xfrm>
            <a:off x="7040880" y="42519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Agriculture &amp; Agribusiness</a:t>
            </a:r>
            <a:endParaRPr lang="en-US" sz="1300" dirty="0"/>
          </a:p>
        </p:txBody>
      </p:sp>
      <p:sp>
        <p:nvSpPr>
          <p:cNvPr id="24" name="Text 21"/>
          <p:cNvSpPr/>
          <p:nvPr/>
        </p:nvSpPr>
        <p:spPr>
          <a:xfrm>
            <a:off x="7040880" y="47091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Education &amp; Training</a:t>
            </a:r>
            <a:endParaRPr lang="en-US" sz="1300" dirty="0"/>
          </a:p>
        </p:txBody>
      </p:sp>
      <p:sp>
        <p:nvSpPr>
          <p:cNvPr id="25" name="Text 22"/>
          <p:cNvSpPr/>
          <p:nvPr/>
        </p:nvSpPr>
        <p:spPr>
          <a:xfrm>
            <a:off x="7040880" y="5166360"/>
            <a:ext cx="438912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Government &amp; Public Sector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1E2637"/>
                </a:solidFill>
                <a:latin typeface="Calibri" pitchFamily="34" charset="0"/>
                <a:ea typeface="Calibri" pitchFamily="34" charset="-122"/>
                <a:cs typeface="Calibri" pitchFamily="34" charset="-120"/>
              </a:rPr>
              <a:t>Who We Are</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718096"/>
                </a:solidFill>
                <a:latin typeface="Calibri" pitchFamily="34" charset="0"/>
                <a:ea typeface="Calibri" pitchFamily="34" charset="-122"/>
                <a:cs typeface="Calibri" pitchFamily="34" charset="-120"/>
              </a:rPr>
              <a:t>A Tanzanian technology company with three integrated service pillars</a:t>
            </a:r>
            <a:endParaRPr lang="en-US" sz="1600" dirty="0"/>
          </a:p>
        </p:txBody>
      </p:sp>
      <p:sp>
        <p:nvSpPr>
          <p:cNvPr id="5" name="Shape 2"/>
          <p:cNvSpPr/>
          <p:nvPr/>
        </p:nvSpPr>
        <p:spPr>
          <a:xfrm>
            <a:off x="640080" y="1645920"/>
            <a:ext cx="3520440" cy="4023360"/>
          </a:xfrm>
          <a:prstGeom prst="roundRect">
            <a:avLst>
              <a:gd name="adj" fmla="val 2597"/>
            </a:avLst>
          </a:prstGeom>
          <a:solidFill>
            <a:srgbClr val="FFFFFF"/>
          </a:solidFill>
          <a:ln/>
          <a:effectLst>
            <a:outerShdw sx="100000" sy="100000" kx="0" ky="0" algn="bl" rotWithShape="0" blurRad="101600" dist="25400" dir="16200000">
              <a:srgbClr val="000000">
                <a:alpha val="15000"/>
              </a:srgbClr>
            </a:outerShdw>
          </a:effectLst>
        </p:spPr>
      </p:sp>
      <p:sp>
        <p:nvSpPr>
          <p:cNvPr id="6" name="Shape 3"/>
          <p:cNvSpPr/>
          <p:nvPr/>
        </p:nvSpPr>
        <p:spPr>
          <a:xfrm>
            <a:off x="777240" y="1691640"/>
            <a:ext cx="3246120" cy="54864"/>
          </a:xfrm>
          <a:prstGeom prst="rect">
            <a:avLst/>
          </a:prstGeom>
          <a:solidFill>
            <a:srgbClr val="3B82F6"/>
          </a:solidFill>
          <a:ln/>
        </p:spPr>
      </p:sp>
      <p:sp>
        <p:nvSpPr>
          <p:cNvPr id="7" name="Shape 4"/>
          <p:cNvSpPr/>
          <p:nvPr/>
        </p:nvSpPr>
        <p:spPr>
          <a:xfrm>
            <a:off x="2103120" y="2011680"/>
            <a:ext cx="548640" cy="548640"/>
          </a:xfrm>
          <a:prstGeom prst="ellipse">
            <a:avLst/>
          </a:prstGeom>
          <a:solidFill>
            <a:srgbClr val="3B82F6"/>
          </a:solidFill>
          <a:ln/>
        </p:spPr>
      </p:sp>
      <p:sp>
        <p:nvSpPr>
          <p:cNvPr id="8" name="Text 5"/>
          <p:cNvSpPr/>
          <p:nvPr/>
        </p:nvSpPr>
        <p:spPr>
          <a:xfrm>
            <a:off x="2103120" y="20116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9" name="Text 6"/>
          <p:cNvSpPr/>
          <p:nvPr/>
        </p:nvSpPr>
        <p:spPr>
          <a:xfrm>
            <a:off x="914400" y="2743200"/>
            <a:ext cx="2971800" cy="822960"/>
          </a:xfrm>
          <a:prstGeom prst="rect">
            <a:avLst/>
          </a:prstGeom>
          <a:noFill/>
          <a:ln/>
        </p:spPr>
        <p:txBody>
          <a:bodyPr wrap="square" rtlCol="0" anchor="ctr"/>
          <a:lstStyle/>
          <a:p>
            <a:pPr algn="ctr" indent="0" marL="0">
              <a:lnSpc>
                <a:spcPct val="115000"/>
              </a:lnSpc>
              <a:buNone/>
            </a:pPr>
            <a:r>
              <a:rPr lang="en-US" sz="1700" b="1" dirty="0">
                <a:solidFill>
                  <a:srgbClr val="1E2637"/>
                </a:solidFill>
                <a:latin typeface="Calibri" pitchFamily="34" charset="0"/>
                <a:ea typeface="Calibri" pitchFamily="34" charset="-122"/>
                <a:cs typeface="Calibri" pitchFamily="34" charset="-120"/>
              </a:rPr>
              <a:t>Software &amp; App</a:t>
            </a:r>
            <a:endParaRPr lang="en-US" sz="1700" dirty="0"/>
          </a:p>
          <a:p>
            <a:pPr algn="ctr" indent="0" marL="0">
              <a:lnSpc>
                <a:spcPct val="115000"/>
              </a:lnSpc>
              <a:buNone/>
            </a:pPr>
            <a:r>
              <a:rPr lang="en-US" sz="1700" b="1" dirty="0">
                <a:solidFill>
                  <a:srgbClr val="1E2637"/>
                </a:solidFill>
                <a:latin typeface="Calibri" pitchFamily="34" charset="0"/>
                <a:ea typeface="Calibri" pitchFamily="34" charset="-122"/>
                <a:cs typeface="Calibri" pitchFamily="34" charset="-120"/>
              </a:rPr>
              <a:t>Development</a:t>
            </a:r>
            <a:endParaRPr lang="en-US" sz="1700" dirty="0"/>
          </a:p>
        </p:txBody>
      </p:sp>
      <p:sp>
        <p:nvSpPr>
          <p:cNvPr id="10" name="Text 7"/>
          <p:cNvSpPr/>
          <p:nvPr/>
        </p:nvSpPr>
        <p:spPr>
          <a:xfrm>
            <a:off x="914400" y="3566160"/>
            <a:ext cx="2971800" cy="1645920"/>
          </a:xfrm>
          <a:prstGeom prst="rect">
            <a:avLst/>
          </a:prstGeom>
          <a:noFill/>
          <a:ln/>
        </p:spPr>
        <p:txBody>
          <a:bodyPr wrap="square" rtlCol="0" anchor="ctr"/>
          <a:lstStyle/>
          <a:p>
            <a:pPr algn="ctr" indent="0" marL="0">
              <a:lnSpc>
                <a:spcPct val="130000"/>
              </a:lnSpc>
              <a:buNone/>
            </a:pPr>
            <a:r>
              <a:rPr lang="en-US" sz="1200" dirty="0">
                <a:solidFill>
                  <a:srgbClr val="2D3748"/>
                </a:solidFill>
                <a:latin typeface="Calibri" pitchFamily="34" charset="0"/>
                <a:ea typeface="Calibri" pitchFamily="34" charset="-122"/>
                <a:cs typeface="Calibri" pitchFamily="34" charset="-120"/>
              </a:rPr>
              <a:t>Custom software, mobile apps, web platforms, APIs, and blockchain solutions for East African businesses</a:t>
            </a:r>
            <a:endParaRPr lang="en-US" sz="1200" dirty="0"/>
          </a:p>
        </p:txBody>
      </p:sp>
      <p:sp>
        <p:nvSpPr>
          <p:cNvPr id="11" name="Shape 8"/>
          <p:cNvSpPr/>
          <p:nvPr/>
        </p:nvSpPr>
        <p:spPr>
          <a:xfrm>
            <a:off x="4434840" y="1645920"/>
            <a:ext cx="3520440" cy="4023360"/>
          </a:xfrm>
          <a:prstGeom prst="roundRect">
            <a:avLst>
              <a:gd name="adj" fmla="val 2597"/>
            </a:avLst>
          </a:prstGeom>
          <a:solidFill>
            <a:srgbClr val="FFFFFF"/>
          </a:solidFill>
          <a:ln/>
          <a:effectLst>
            <a:outerShdw sx="100000" sy="100000" kx="0" ky="0" algn="bl" rotWithShape="0" blurRad="101600" dist="25400" dir="16200000">
              <a:srgbClr val="000000">
                <a:alpha val="15000"/>
              </a:srgbClr>
            </a:outerShdw>
          </a:effectLst>
        </p:spPr>
      </p:sp>
      <p:sp>
        <p:nvSpPr>
          <p:cNvPr id="12" name="Shape 9"/>
          <p:cNvSpPr/>
          <p:nvPr/>
        </p:nvSpPr>
        <p:spPr>
          <a:xfrm>
            <a:off x="4572000" y="1691640"/>
            <a:ext cx="3246120" cy="54864"/>
          </a:xfrm>
          <a:prstGeom prst="rect">
            <a:avLst/>
          </a:prstGeom>
          <a:solidFill>
            <a:srgbClr val="8B5CF6"/>
          </a:solidFill>
          <a:ln/>
        </p:spPr>
      </p:sp>
      <p:sp>
        <p:nvSpPr>
          <p:cNvPr id="13" name="Shape 10"/>
          <p:cNvSpPr/>
          <p:nvPr/>
        </p:nvSpPr>
        <p:spPr>
          <a:xfrm>
            <a:off x="5897880" y="2011680"/>
            <a:ext cx="548640" cy="548640"/>
          </a:xfrm>
          <a:prstGeom prst="ellipse">
            <a:avLst/>
          </a:prstGeom>
          <a:solidFill>
            <a:srgbClr val="8B5CF6"/>
          </a:solidFill>
          <a:ln/>
        </p:spPr>
      </p:sp>
      <p:sp>
        <p:nvSpPr>
          <p:cNvPr id="14" name="Text 11"/>
          <p:cNvSpPr/>
          <p:nvPr/>
        </p:nvSpPr>
        <p:spPr>
          <a:xfrm>
            <a:off x="5897880" y="20116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2"/>
          <p:cNvSpPr/>
          <p:nvPr/>
        </p:nvSpPr>
        <p:spPr>
          <a:xfrm>
            <a:off x="4709160" y="2743200"/>
            <a:ext cx="2971800" cy="822960"/>
          </a:xfrm>
          <a:prstGeom prst="rect">
            <a:avLst/>
          </a:prstGeom>
          <a:noFill/>
          <a:ln/>
        </p:spPr>
        <p:txBody>
          <a:bodyPr wrap="square" rtlCol="0" anchor="ctr"/>
          <a:lstStyle/>
          <a:p>
            <a:pPr algn="ctr" indent="0" marL="0">
              <a:lnSpc>
                <a:spcPct val="115000"/>
              </a:lnSpc>
              <a:buNone/>
            </a:pPr>
            <a:r>
              <a:rPr lang="en-US" sz="1700" b="1" dirty="0">
                <a:solidFill>
                  <a:srgbClr val="1E2637"/>
                </a:solidFill>
                <a:latin typeface="Calibri" pitchFamily="34" charset="0"/>
                <a:ea typeface="Calibri" pitchFamily="34" charset="-122"/>
                <a:cs typeface="Calibri" pitchFamily="34" charset="-120"/>
              </a:rPr>
              <a:t>Managed IT</a:t>
            </a:r>
            <a:endParaRPr lang="en-US" sz="1700" dirty="0"/>
          </a:p>
          <a:p>
            <a:pPr algn="ctr" indent="0" marL="0">
              <a:lnSpc>
                <a:spcPct val="115000"/>
              </a:lnSpc>
              <a:buNone/>
            </a:pPr>
            <a:r>
              <a:rPr lang="en-US" sz="1700" b="1" dirty="0">
                <a:solidFill>
                  <a:srgbClr val="1E2637"/>
                </a:solidFill>
                <a:latin typeface="Calibri" pitchFamily="34" charset="0"/>
                <a:ea typeface="Calibri" pitchFamily="34" charset="-122"/>
                <a:cs typeface="Calibri" pitchFamily="34" charset="-120"/>
              </a:rPr>
              <a:t>Services</a:t>
            </a:r>
            <a:endParaRPr lang="en-US" sz="1700" dirty="0"/>
          </a:p>
        </p:txBody>
      </p:sp>
      <p:sp>
        <p:nvSpPr>
          <p:cNvPr id="16" name="Text 13"/>
          <p:cNvSpPr/>
          <p:nvPr/>
        </p:nvSpPr>
        <p:spPr>
          <a:xfrm>
            <a:off x="4709160" y="3566160"/>
            <a:ext cx="2971800" cy="1645920"/>
          </a:xfrm>
          <a:prstGeom prst="rect">
            <a:avLst/>
          </a:prstGeom>
          <a:noFill/>
          <a:ln/>
        </p:spPr>
        <p:txBody>
          <a:bodyPr wrap="square" rtlCol="0" anchor="ctr"/>
          <a:lstStyle/>
          <a:p>
            <a:pPr algn="ctr" indent="0" marL="0">
              <a:lnSpc>
                <a:spcPct val="130000"/>
              </a:lnSpc>
              <a:buNone/>
            </a:pPr>
            <a:r>
              <a:rPr lang="en-US" sz="1200" dirty="0">
                <a:solidFill>
                  <a:srgbClr val="2D3748"/>
                </a:solidFill>
                <a:latin typeface="Calibri" pitchFamily="34" charset="0"/>
                <a:ea typeface="Calibri" pitchFamily="34" charset="-122"/>
                <a:cs typeface="Calibri" pitchFamily="34" charset="-120"/>
              </a:rPr>
              <a:t>Ongoing IT support, infrastructure, cybersecurity, cloud migration, and helpdesk for organizations</a:t>
            </a:r>
            <a:endParaRPr lang="en-US" sz="1200" dirty="0"/>
          </a:p>
        </p:txBody>
      </p:sp>
      <p:sp>
        <p:nvSpPr>
          <p:cNvPr id="17" name="Shape 14"/>
          <p:cNvSpPr/>
          <p:nvPr/>
        </p:nvSpPr>
        <p:spPr>
          <a:xfrm>
            <a:off x="8229600" y="1645920"/>
            <a:ext cx="3520440" cy="4023360"/>
          </a:xfrm>
          <a:prstGeom prst="roundRect">
            <a:avLst>
              <a:gd name="adj" fmla="val 2597"/>
            </a:avLst>
          </a:prstGeom>
          <a:solidFill>
            <a:srgbClr val="FFFFFF"/>
          </a:solidFill>
          <a:ln/>
          <a:effectLst>
            <a:outerShdw sx="100000" sy="100000" kx="0" ky="0" algn="bl" rotWithShape="0" blurRad="101600" dist="25400" dir="16200000">
              <a:srgbClr val="000000">
                <a:alpha val="15000"/>
              </a:srgbClr>
            </a:outerShdw>
          </a:effectLst>
        </p:spPr>
      </p:sp>
      <p:sp>
        <p:nvSpPr>
          <p:cNvPr id="18" name="Shape 15"/>
          <p:cNvSpPr/>
          <p:nvPr/>
        </p:nvSpPr>
        <p:spPr>
          <a:xfrm>
            <a:off x="8366760" y="1691640"/>
            <a:ext cx="3246120" cy="54864"/>
          </a:xfrm>
          <a:prstGeom prst="rect">
            <a:avLst/>
          </a:prstGeom>
          <a:solidFill>
            <a:srgbClr val="1A8F6E"/>
          </a:solidFill>
          <a:ln/>
        </p:spPr>
      </p:sp>
      <p:sp>
        <p:nvSpPr>
          <p:cNvPr id="19" name="Shape 16"/>
          <p:cNvSpPr/>
          <p:nvPr/>
        </p:nvSpPr>
        <p:spPr>
          <a:xfrm>
            <a:off x="9692640" y="2011680"/>
            <a:ext cx="548640" cy="548640"/>
          </a:xfrm>
          <a:prstGeom prst="ellipse">
            <a:avLst/>
          </a:prstGeom>
          <a:solidFill>
            <a:srgbClr val="1A8F6E"/>
          </a:solidFill>
          <a:ln/>
        </p:spPr>
      </p:sp>
      <p:sp>
        <p:nvSpPr>
          <p:cNvPr id="20" name="Text 17"/>
          <p:cNvSpPr/>
          <p:nvPr/>
        </p:nvSpPr>
        <p:spPr>
          <a:xfrm>
            <a:off x="9692640" y="20116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1" name="Text 18"/>
          <p:cNvSpPr/>
          <p:nvPr/>
        </p:nvSpPr>
        <p:spPr>
          <a:xfrm>
            <a:off x="8503920" y="2743200"/>
            <a:ext cx="2971800" cy="822960"/>
          </a:xfrm>
          <a:prstGeom prst="rect">
            <a:avLst/>
          </a:prstGeom>
          <a:noFill/>
          <a:ln/>
        </p:spPr>
        <p:txBody>
          <a:bodyPr wrap="square" rtlCol="0" anchor="ctr"/>
          <a:lstStyle/>
          <a:p>
            <a:pPr algn="ctr" indent="0" marL="0">
              <a:lnSpc>
                <a:spcPct val="115000"/>
              </a:lnSpc>
              <a:buNone/>
            </a:pPr>
            <a:r>
              <a:rPr lang="en-US" sz="1700" b="1" dirty="0">
                <a:solidFill>
                  <a:srgbClr val="1E2637"/>
                </a:solidFill>
                <a:latin typeface="Calibri" pitchFamily="34" charset="0"/>
                <a:ea typeface="Calibri" pitchFamily="34" charset="-122"/>
                <a:cs typeface="Calibri" pitchFamily="34" charset="-120"/>
              </a:rPr>
              <a:t>AI &amp; IT</a:t>
            </a:r>
            <a:endParaRPr lang="en-US" sz="1700" dirty="0"/>
          </a:p>
          <a:p>
            <a:pPr algn="ctr" indent="0" marL="0">
              <a:lnSpc>
                <a:spcPct val="115000"/>
              </a:lnSpc>
              <a:buNone/>
            </a:pPr>
            <a:r>
              <a:rPr lang="en-US" sz="1700" b="1" dirty="0">
                <a:solidFill>
                  <a:srgbClr val="1E2637"/>
                </a:solidFill>
                <a:latin typeface="Calibri" pitchFamily="34" charset="0"/>
                <a:ea typeface="Calibri" pitchFamily="34" charset="-122"/>
                <a:cs typeface="Calibri" pitchFamily="34" charset="-120"/>
              </a:rPr>
              <a:t>Consulting</a:t>
            </a:r>
            <a:endParaRPr lang="en-US" sz="1700" dirty="0"/>
          </a:p>
        </p:txBody>
      </p:sp>
      <p:sp>
        <p:nvSpPr>
          <p:cNvPr id="22" name="Text 19"/>
          <p:cNvSpPr/>
          <p:nvPr/>
        </p:nvSpPr>
        <p:spPr>
          <a:xfrm>
            <a:off x="8503920" y="3566160"/>
            <a:ext cx="2971800" cy="1645920"/>
          </a:xfrm>
          <a:prstGeom prst="rect">
            <a:avLst/>
          </a:prstGeom>
          <a:noFill/>
          <a:ln/>
        </p:spPr>
        <p:txBody>
          <a:bodyPr wrap="square" rtlCol="0" anchor="ctr"/>
          <a:lstStyle/>
          <a:p>
            <a:pPr algn="ctr" indent="0" marL="0">
              <a:lnSpc>
                <a:spcPct val="130000"/>
              </a:lnSpc>
              <a:buNone/>
            </a:pPr>
            <a:r>
              <a:rPr lang="en-US" sz="1200" dirty="0">
                <a:solidFill>
                  <a:srgbClr val="2D3748"/>
                </a:solidFill>
                <a:latin typeface="Calibri" pitchFamily="34" charset="0"/>
                <a:ea typeface="Calibri" pitchFamily="34" charset="-122"/>
                <a:cs typeface="Calibri" pitchFamily="34" charset="-120"/>
              </a:rPr>
              <a:t>Strategic AI implementation, operational audits, staff training, and workflow automation</a:t>
            </a:r>
            <a:endParaRPr lang="en-US" sz="1200" dirty="0"/>
          </a:p>
        </p:txBody>
      </p:sp>
      <p:sp>
        <p:nvSpPr>
          <p:cNvPr id="23" name="Shape 20"/>
          <p:cNvSpPr/>
          <p:nvPr/>
        </p:nvSpPr>
        <p:spPr>
          <a:xfrm>
            <a:off x="8220456" y="5577840"/>
            <a:ext cx="3538728" cy="54864"/>
          </a:xfrm>
          <a:prstGeom prst="rect">
            <a:avLst/>
          </a:prstGeom>
          <a:solidFill>
            <a:srgbClr val="1A8F6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Our Approach</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E8EDF3"/>
                </a:solidFill>
                <a:latin typeface="Calibri" pitchFamily="34" charset="0"/>
                <a:ea typeface="Calibri" pitchFamily="34" charset="-122"/>
                <a:cs typeface="Calibri" pitchFamily="34" charset="-120"/>
              </a:rPr>
              <a:t>A proven 4-phase methodology that delivers measurable results</a:t>
            </a:r>
            <a:endParaRPr lang="en-US" sz="1600" dirty="0"/>
          </a:p>
        </p:txBody>
      </p:sp>
      <p:sp>
        <p:nvSpPr>
          <p:cNvPr id="5" name="Shape 2"/>
          <p:cNvSpPr/>
          <p:nvPr/>
        </p:nvSpPr>
        <p:spPr>
          <a:xfrm>
            <a:off x="457200" y="1645920"/>
            <a:ext cx="2697480" cy="4206240"/>
          </a:xfrm>
          <a:prstGeom prst="roundRect">
            <a:avLst>
              <a:gd name="adj" fmla="val 3390"/>
            </a:avLst>
          </a:prstGeom>
          <a:solidFill>
            <a:srgbClr val="141C2B"/>
          </a:solidFill>
          <a:ln/>
        </p:spPr>
      </p:sp>
      <p:sp>
        <p:nvSpPr>
          <p:cNvPr id="6" name="Text 3"/>
          <p:cNvSpPr/>
          <p:nvPr/>
        </p:nvSpPr>
        <p:spPr>
          <a:xfrm>
            <a:off x="457200" y="1783080"/>
            <a:ext cx="2697480" cy="640080"/>
          </a:xfrm>
          <a:prstGeom prst="rect">
            <a:avLst/>
          </a:prstGeom>
          <a:noFill/>
          <a:ln/>
        </p:spPr>
        <p:txBody>
          <a:bodyPr wrap="square" rtlCol="0" anchor="ctr"/>
          <a:lstStyle/>
          <a:p>
            <a:pPr algn="ctr" indent="0" marL="0">
              <a:buNone/>
            </a:pPr>
            <a:r>
              <a:rPr lang="en-US" sz="3600" b="1" dirty="0">
                <a:solidFill>
                  <a:srgbClr val="1A8F6E"/>
                </a:solidFill>
                <a:latin typeface="Calibri" pitchFamily="34" charset="0"/>
                <a:ea typeface="Calibri" pitchFamily="34" charset="-122"/>
                <a:cs typeface="Calibri" pitchFamily="34" charset="-120"/>
              </a:rPr>
              <a:t>01</a:t>
            </a:r>
            <a:endParaRPr lang="en-US" sz="3600" dirty="0"/>
          </a:p>
        </p:txBody>
      </p:sp>
      <p:sp>
        <p:nvSpPr>
          <p:cNvPr id="7" name="Text 4"/>
          <p:cNvSpPr/>
          <p:nvPr/>
        </p:nvSpPr>
        <p:spPr>
          <a:xfrm>
            <a:off x="457200" y="2423160"/>
            <a:ext cx="269748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Discover</a:t>
            </a:r>
            <a:endParaRPr lang="en-US" sz="2000" dirty="0"/>
          </a:p>
        </p:txBody>
      </p:sp>
      <p:sp>
        <p:nvSpPr>
          <p:cNvPr id="8" name="Shape 5"/>
          <p:cNvSpPr/>
          <p:nvPr/>
        </p:nvSpPr>
        <p:spPr>
          <a:xfrm>
            <a:off x="1005840" y="2971800"/>
            <a:ext cx="1600200" cy="27432"/>
          </a:xfrm>
          <a:prstGeom prst="rect">
            <a:avLst/>
          </a:prstGeom>
          <a:solidFill>
            <a:srgbClr val="1A8F6E"/>
          </a:solidFill>
          <a:ln/>
        </p:spPr>
      </p:sp>
      <p:sp>
        <p:nvSpPr>
          <p:cNvPr id="9" name="Text 6"/>
          <p:cNvSpPr/>
          <p:nvPr/>
        </p:nvSpPr>
        <p:spPr>
          <a:xfrm>
            <a:off x="731520" y="320040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Operational audit</a:t>
            </a:r>
            <a:endParaRPr lang="en-US" sz="1200" dirty="0"/>
          </a:p>
        </p:txBody>
      </p:sp>
      <p:sp>
        <p:nvSpPr>
          <p:cNvPr id="10" name="Text 7"/>
          <p:cNvSpPr/>
          <p:nvPr/>
        </p:nvSpPr>
        <p:spPr>
          <a:xfrm>
            <a:off x="731520" y="370332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AI Readiness Assessment</a:t>
            </a:r>
            <a:endParaRPr lang="en-US" sz="1200" dirty="0"/>
          </a:p>
        </p:txBody>
      </p:sp>
      <p:sp>
        <p:nvSpPr>
          <p:cNvPr id="11" name="Text 8"/>
          <p:cNvSpPr/>
          <p:nvPr/>
        </p:nvSpPr>
        <p:spPr>
          <a:xfrm>
            <a:off x="731520" y="420624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Stakeholder interviews</a:t>
            </a:r>
            <a:endParaRPr lang="en-US" sz="1200" dirty="0"/>
          </a:p>
        </p:txBody>
      </p:sp>
      <p:sp>
        <p:nvSpPr>
          <p:cNvPr id="12" name="Text 9"/>
          <p:cNvSpPr/>
          <p:nvPr/>
        </p:nvSpPr>
        <p:spPr>
          <a:xfrm>
            <a:off x="731520" y="470916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Pain point mapping</a:t>
            </a:r>
            <a:endParaRPr lang="en-US" sz="1200" dirty="0"/>
          </a:p>
        </p:txBody>
      </p:sp>
      <p:sp>
        <p:nvSpPr>
          <p:cNvPr id="13" name="Text 10"/>
          <p:cNvSpPr/>
          <p:nvPr/>
        </p:nvSpPr>
        <p:spPr>
          <a:xfrm>
            <a:off x="3063240" y="3291840"/>
            <a:ext cx="365760" cy="457200"/>
          </a:xfrm>
          <a:prstGeom prst="rect">
            <a:avLst/>
          </a:prstGeom>
          <a:noFill/>
          <a:ln/>
        </p:spPr>
        <p:txBody>
          <a:bodyPr wrap="square" rtlCol="0" anchor="ctr"/>
          <a:lstStyle/>
          <a:p>
            <a:pPr algn="ctr" indent="0" marL="0">
              <a:buNone/>
            </a:pPr>
            <a:r>
              <a:rPr lang="en-US" sz="2400" dirty="0">
                <a:solidFill>
                  <a:srgbClr val="718096"/>
                </a:solidFill>
                <a:latin typeface="Calibri" pitchFamily="34" charset="0"/>
                <a:ea typeface="Calibri" pitchFamily="34" charset="-122"/>
                <a:cs typeface="Calibri" pitchFamily="34" charset="-120"/>
              </a:rPr>
              <a:t>→</a:t>
            </a:r>
            <a:endParaRPr lang="en-US" sz="2400" dirty="0"/>
          </a:p>
        </p:txBody>
      </p:sp>
      <p:sp>
        <p:nvSpPr>
          <p:cNvPr id="14" name="Shape 11"/>
          <p:cNvSpPr/>
          <p:nvPr/>
        </p:nvSpPr>
        <p:spPr>
          <a:xfrm>
            <a:off x="3337560" y="1645920"/>
            <a:ext cx="2697480" cy="4206240"/>
          </a:xfrm>
          <a:prstGeom prst="roundRect">
            <a:avLst>
              <a:gd name="adj" fmla="val 3390"/>
            </a:avLst>
          </a:prstGeom>
          <a:solidFill>
            <a:srgbClr val="141C2B"/>
          </a:solidFill>
          <a:ln/>
        </p:spPr>
      </p:sp>
      <p:sp>
        <p:nvSpPr>
          <p:cNvPr id="15" name="Text 12"/>
          <p:cNvSpPr/>
          <p:nvPr/>
        </p:nvSpPr>
        <p:spPr>
          <a:xfrm>
            <a:off x="3337560" y="1783080"/>
            <a:ext cx="2697480" cy="640080"/>
          </a:xfrm>
          <a:prstGeom prst="rect">
            <a:avLst/>
          </a:prstGeom>
          <a:noFill/>
          <a:ln/>
        </p:spPr>
        <p:txBody>
          <a:bodyPr wrap="square" rtlCol="0" anchor="ctr"/>
          <a:lstStyle/>
          <a:p>
            <a:pPr algn="ctr" indent="0" marL="0">
              <a:buNone/>
            </a:pPr>
            <a:r>
              <a:rPr lang="en-US" sz="3600" b="1" dirty="0">
                <a:solidFill>
                  <a:srgbClr val="3B82F6"/>
                </a:solidFill>
                <a:latin typeface="Calibri" pitchFamily="34" charset="0"/>
                <a:ea typeface="Calibri" pitchFamily="34" charset="-122"/>
                <a:cs typeface="Calibri" pitchFamily="34" charset="-120"/>
              </a:rPr>
              <a:t>02</a:t>
            </a:r>
            <a:endParaRPr lang="en-US" sz="3600" dirty="0"/>
          </a:p>
        </p:txBody>
      </p:sp>
      <p:sp>
        <p:nvSpPr>
          <p:cNvPr id="16" name="Text 13"/>
          <p:cNvSpPr/>
          <p:nvPr/>
        </p:nvSpPr>
        <p:spPr>
          <a:xfrm>
            <a:off x="3337560" y="2423160"/>
            <a:ext cx="269748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Design</a:t>
            </a:r>
            <a:endParaRPr lang="en-US" sz="2000" dirty="0"/>
          </a:p>
        </p:txBody>
      </p:sp>
      <p:sp>
        <p:nvSpPr>
          <p:cNvPr id="17" name="Shape 14"/>
          <p:cNvSpPr/>
          <p:nvPr/>
        </p:nvSpPr>
        <p:spPr>
          <a:xfrm>
            <a:off x="3886200" y="2971800"/>
            <a:ext cx="1600200" cy="27432"/>
          </a:xfrm>
          <a:prstGeom prst="rect">
            <a:avLst/>
          </a:prstGeom>
          <a:solidFill>
            <a:srgbClr val="3B82F6"/>
          </a:solidFill>
          <a:ln/>
        </p:spPr>
      </p:sp>
      <p:sp>
        <p:nvSpPr>
          <p:cNvPr id="18" name="Text 15"/>
          <p:cNvSpPr/>
          <p:nvPr/>
        </p:nvSpPr>
        <p:spPr>
          <a:xfrm>
            <a:off x="3611880" y="320040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Tool selection</a:t>
            </a:r>
            <a:endParaRPr lang="en-US" sz="1200" dirty="0"/>
          </a:p>
        </p:txBody>
      </p:sp>
      <p:sp>
        <p:nvSpPr>
          <p:cNvPr id="19" name="Text 16"/>
          <p:cNvSpPr/>
          <p:nvPr/>
        </p:nvSpPr>
        <p:spPr>
          <a:xfrm>
            <a:off x="3611880" y="370332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Implementation roadmap</a:t>
            </a:r>
            <a:endParaRPr lang="en-US" sz="1200" dirty="0"/>
          </a:p>
        </p:txBody>
      </p:sp>
      <p:sp>
        <p:nvSpPr>
          <p:cNvPr id="20" name="Text 17"/>
          <p:cNvSpPr/>
          <p:nvPr/>
        </p:nvSpPr>
        <p:spPr>
          <a:xfrm>
            <a:off x="3611880" y="420624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Change management plan</a:t>
            </a:r>
            <a:endParaRPr lang="en-US" sz="1200" dirty="0"/>
          </a:p>
        </p:txBody>
      </p:sp>
      <p:sp>
        <p:nvSpPr>
          <p:cNvPr id="21" name="Text 18"/>
          <p:cNvSpPr/>
          <p:nvPr/>
        </p:nvSpPr>
        <p:spPr>
          <a:xfrm>
            <a:off x="3611880" y="470916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ROI projections</a:t>
            </a:r>
            <a:endParaRPr lang="en-US" sz="1200" dirty="0"/>
          </a:p>
        </p:txBody>
      </p:sp>
      <p:sp>
        <p:nvSpPr>
          <p:cNvPr id="22" name="Text 19"/>
          <p:cNvSpPr/>
          <p:nvPr/>
        </p:nvSpPr>
        <p:spPr>
          <a:xfrm>
            <a:off x="5943600" y="3291840"/>
            <a:ext cx="365760" cy="457200"/>
          </a:xfrm>
          <a:prstGeom prst="rect">
            <a:avLst/>
          </a:prstGeom>
          <a:noFill/>
          <a:ln/>
        </p:spPr>
        <p:txBody>
          <a:bodyPr wrap="square" rtlCol="0" anchor="ctr"/>
          <a:lstStyle/>
          <a:p>
            <a:pPr algn="ctr" indent="0" marL="0">
              <a:buNone/>
            </a:pPr>
            <a:r>
              <a:rPr lang="en-US" sz="2400" dirty="0">
                <a:solidFill>
                  <a:srgbClr val="718096"/>
                </a:solidFill>
                <a:latin typeface="Calibri" pitchFamily="34" charset="0"/>
                <a:ea typeface="Calibri" pitchFamily="34" charset="-122"/>
                <a:cs typeface="Calibri" pitchFamily="34" charset="-120"/>
              </a:rPr>
              <a:t>→</a:t>
            </a:r>
            <a:endParaRPr lang="en-US" sz="2400" dirty="0"/>
          </a:p>
        </p:txBody>
      </p:sp>
      <p:sp>
        <p:nvSpPr>
          <p:cNvPr id="23" name="Shape 20"/>
          <p:cNvSpPr/>
          <p:nvPr/>
        </p:nvSpPr>
        <p:spPr>
          <a:xfrm>
            <a:off x="6217920" y="1645920"/>
            <a:ext cx="2697480" cy="4206240"/>
          </a:xfrm>
          <a:prstGeom prst="roundRect">
            <a:avLst>
              <a:gd name="adj" fmla="val 3390"/>
            </a:avLst>
          </a:prstGeom>
          <a:solidFill>
            <a:srgbClr val="141C2B"/>
          </a:solidFill>
          <a:ln/>
        </p:spPr>
      </p:sp>
      <p:sp>
        <p:nvSpPr>
          <p:cNvPr id="24" name="Text 21"/>
          <p:cNvSpPr/>
          <p:nvPr/>
        </p:nvSpPr>
        <p:spPr>
          <a:xfrm>
            <a:off x="6217920" y="1783080"/>
            <a:ext cx="2697480" cy="640080"/>
          </a:xfrm>
          <a:prstGeom prst="rect">
            <a:avLst/>
          </a:prstGeom>
          <a:noFill/>
          <a:ln/>
        </p:spPr>
        <p:txBody>
          <a:bodyPr wrap="square" rtlCol="0" anchor="ctr"/>
          <a:lstStyle/>
          <a:p>
            <a:pPr algn="ctr" indent="0" marL="0">
              <a:buNone/>
            </a:pPr>
            <a:r>
              <a:rPr lang="en-US" sz="3600" b="1" dirty="0">
                <a:solidFill>
                  <a:srgbClr val="F5A623"/>
                </a:solidFill>
                <a:latin typeface="Calibri" pitchFamily="34" charset="0"/>
                <a:ea typeface="Calibri" pitchFamily="34" charset="-122"/>
                <a:cs typeface="Calibri" pitchFamily="34" charset="-120"/>
              </a:rPr>
              <a:t>03</a:t>
            </a:r>
            <a:endParaRPr lang="en-US" sz="3600" dirty="0"/>
          </a:p>
        </p:txBody>
      </p:sp>
      <p:sp>
        <p:nvSpPr>
          <p:cNvPr id="25" name="Text 22"/>
          <p:cNvSpPr/>
          <p:nvPr/>
        </p:nvSpPr>
        <p:spPr>
          <a:xfrm>
            <a:off x="6217920" y="2423160"/>
            <a:ext cx="269748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Deploy</a:t>
            </a:r>
            <a:endParaRPr lang="en-US" sz="2000" dirty="0"/>
          </a:p>
        </p:txBody>
      </p:sp>
      <p:sp>
        <p:nvSpPr>
          <p:cNvPr id="26" name="Shape 23"/>
          <p:cNvSpPr/>
          <p:nvPr/>
        </p:nvSpPr>
        <p:spPr>
          <a:xfrm>
            <a:off x="6766560" y="2971800"/>
            <a:ext cx="1600200" cy="27432"/>
          </a:xfrm>
          <a:prstGeom prst="rect">
            <a:avLst/>
          </a:prstGeom>
          <a:solidFill>
            <a:srgbClr val="F5A623"/>
          </a:solidFill>
          <a:ln/>
        </p:spPr>
      </p:sp>
      <p:sp>
        <p:nvSpPr>
          <p:cNvPr id="27" name="Text 24"/>
          <p:cNvSpPr/>
          <p:nvPr/>
        </p:nvSpPr>
        <p:spPr>
          <a:xfrm>
            <a:off x="6492240" y="320040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Tool setup &amp; config</a:t>
            </a:r>
            <a:endParaRPr lang="en-US" sz="1200" dirty="0"/>
          </a:p>
        </p:txBody>
      </p:sp>
      <p:sp>
        <p:nvSpPr>
          <p:cNvPr id="28" name="Text 25"/>
          <p:cNvSpPr/>
          <p:nvPr/>
        </p:nvSpPr>
        <p:spPr>
          <a:xfrm>
            <a:off x="6492240" y="370332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Data integration</a:t>
            </a:r>
            <a:endParaRPr lang="en-US" sz="1200" dirty="0"/>
          </a:p>
        </p:txBody>
      </p:sp>
      <p:sp>
        <p:nvSpPr>
          <p:cNvPr id="29" name="Text 26"/>
          <p:cNvSpPr/>
          <p:nvPr/>
        </p:nvSpPr>
        <p:spPr>
          <a:xfrm>
            <a:off x="6492240" y="420624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Custom automations</a:t>
            </a:r>
            <a:endParaRPr lang="en-US" sz="1200" dirty="0"/>
          </a:p>
        </p:txBody>
      </p:sp>
      <p:sp>
        <p:nvSpPr>
          <p:cNvPr id="30" name="Text 27"/>
          <p:cNvSpPr/>
          <p:nvPr/>
        </p:nvSpPr>
        <p:spPr>
          <a:xfrm>
            <a:off x="6492240" y="470916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Pilot programs</a:t>
            </a:r>
            <a:endParaRPr lang="en-US" sz="1200" dirty="0"/>
          </a:p>
        </p:txBody>
      </p:sp>
      <p:sp>
        <p:nvSpPr>
          <p:cNvPr id="31" name="Text 28"/>
          <p:cNvSpPr/>
          <p:nvPr/>
        </p:nvSpPr>
        <p:spPr>
          <a:xfrm>
            <a:off x="8823960" y="3291840"/>
            <a:ext cx="365760" cy="457200"/>
          </a:xfrm>
          <a:prstGeom prst="rect">
            <a:avLst/>
          </a:prstGeom>
          <a:noFill/>
          <a:ln/>
        </p:spPr>
        <p:txBody>
          <a:bodyPr wrap="square" rtlCol="0" anchor="ctr"/>
          <a:lstStyle/>
          <a:p>
            <a:pPr algn="ctr" indent="0" marL="0">
              <a:buNone/>
            </a:pPr>
            <a:r>
              <a:rPr lang="en-US" sz="2400" dirty="0">
                <a:solidFill>
                  <a:srgbClr val="718096"/>
                </a:solidFill>
                <a:latin typeface="Calibri" pitchFamily="34" charset="0"/>
                <a:ea typeface="Calibri" pitchFamily="34" charset="-122"/>
                <a:cs typeface="Calibri" pitchFamily="34" charset="-120"/>
              </a:rPr>
              <a:t>→</a:t>
            </a:r>
            <a:endParaRPr lang="en-US" sz="2400" dirty="0"/>
          </a:p>
        </p:txBody>
      </p:sp>
      <p:sp>
        <p:nvSpPr>
          <p:cNvPr id="32" name="Shape 29"/>
          <p:cNvSpPr/>
          <p:nvPr/>
        </p:nvSpPr>
        <p:spPr>
          <a:xfrm>
            <a:off x="9098280" y="1645920"/>
            <a:ext cx="2697480" cy="4206240"/>
          </a:xfrm>
          <a:prstGeom prst="roundRect">
            <a:avLst>
              <a:gd name="adj" fmla="val 3390"/>
            </a:avLst>
          </a:prstGeom>
          <a:solidFill>
            <a:srgbClr val="141C2B"/>
          </a:solidFill>
          <a:ln/>
        </p:spPr>
      </p:sp>
      <p:sp>
        <p:nvSpPr>
          <p:cNvPr id="33" name="Text 30"/>
          <p:cNvSpPr/>
          <p:nvPr/>
        </p:nvSpPr>
        <p:spPr>
          <a:xfrm>
            <a:off x="9098280" y="1783080"/>
            <a:ext cx="2697480" cy="640080"/>
          </a:xfrm>
          <a:prstGeom prst="rect">
            <a:avLst/>
          </a:prstGeom>
          <a:noFill/>
          <a:ln/>
        </p:spPr>
        <p:txBody>
          <a:bodyPr wrap="square" rtlCol="0" anchor="ctr"/>
          <a:lstStyle/>
          <a:p>
            <a:pPr algn="ctr" indent="0" marL="0">
              <a:buNone/>
            </a:pPr>
            <a:r>
              <a:rPr lang="en-US" sz="3600" b="1" dirty="0">
                <a:solidFill>
                  <a:srgbClr val="8B5CF6"/>
                </a:solidFill>
                <a:latin typeface="Calibri" pitchFamily="34" charset="0"/>
                <a:ea typeface="Calibri" pitchFamily="34" charset="-122"/>
                <a:cs typeface="Calibri" pitchFamily="34" charset="-120"/>
              </a:rPr>
              <a:t>04</a:t>
            </a:r>
            <a:endParaRPr lang="en-US" sz="3600" dirty="0"/>
          </a:p>
        </p:txBody>
      </p:sp>
      <p:sp>
        <p:nvSpPr>
          <p:cNvPr id="34" name="Text 31"/>
          <p:cNvSpPr/>
          <p:nvPr/>
        </p:nvSpPr>
        <p:spPr>
          <a:xfrm>
            <a:off x="9098280" y="2423160"/>
            <a:ext cx="269748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Develop</a:t>
            </a:r>
            <a:endParaRPr lang="en-US" sz="2000" dirty="0"/>
          </a:p>
        </p:txBody>
      </p:sp>
      <p:sp>
        <p:nvSpPr>
          <p:cNvPr id="35" name="Shape 32"/>
          <p:cNvSpPr/>
          <p:nvPr/>
        </p:nvSpPr>
        <p:spPr>
          <a:xfrm>
            <a:off x="9646920" y="2971800"/>
            <a:ext cx="1600200" cy="27432"/>
          </a:xfrm>
          <a:prstGeom prst="rect">
            <a:avLst/>
          </a:prstGeom>
          <a:solidFill>
            <a:srgbClr val="8B5CF6"/>
          </a:solidFill>
          <a:ln/>
        </p:spPr>
      </p:sp>
      <p:sp>
        <p:nvSpPr>
          <p:cNvPr id="36" name="Text 33"/>
          <p:cNvSpPr/>
          <p:nvPr/>
        </p:nvSpPr>
        <p:spPr>
          <a:xfrm>
            <a:off x="9372600" y="320040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Staff training</a:t>
            </a:r>
            <a:endParaRPr lang="en-US" sz="1200" dirty="0"/>
          </a:p>
        </p:txBody>
      </p:sp>
      <p:sp>
        <p:nvSpPr>
          <p:cNvPr id="37" name="Text 34"/>
          <p:cNvSpPr/>
          <p:nvPr/>
        </p:nvSpPr>
        <p:spPr>
          <a:xfrm>
            <a:off x="9372600" y="370332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Champion development</a:t>
            </a:r>
            <a:endParaRPr lang="en-US" sz="1200" dirty="0"/>
          </a:p>
        </p:txBody>
      </p:sp>
      <p:sp>
        <p:nvSpPr>
          <p:cNvPr id="38" name="Text 35"/>
          <p:cNvSpPr/>
          <p:nvPr/>
        </p:nvSpPr>
        <p:spPr>
          <a:xfrm>
            <a:off x="9372600" y="420624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Performance monitoring</a:t>
            </a:r>
            <a:endParaRPr lang="en-US" sz="1200" dirty="0"/>
          </a:p>
        </p:txBody>
      </p:sp>
      <p:sp>
        <p:nvSpPr>
          <p:cNvPr id="39" name="Text 36"/>
          <p:cNvSpPr/>
          <p:nvPr/>
        </p:nvSpPr>
        <p:spPr>
          <a:xfrm>
            <a:off x="9372600" y="4709160"/>
            <a:ext cx="2286000" cy="411480"/>
          </a:xfrm>
          <a:prstGeom prst="rect">
            <a:avLst/>
          </a:prstGeom>
          <a:noFill/>
          <a:ln/>
        </p:spPr>
        <p:txBody>
          <a:bodyPr wrap="square" rtlCol="0" anchor="ctr"/>
          <a:lstStyle/>
          <a:p>
            <a:pPr indent="0" marL="0">
              <a:buNone/>
            </a:pPr>
            <a:r>
              <a:rPr lang="en-US" sz="1200" dirty="0">
                <a:solidFill>
                  <a:srgbClr val="E8EDF3"/>
                </a:solidFill>
                <a:latin typeface="Calibri" pitchFamily="34" charset="0"/>
                <a:ea typeface="Calibri" pitchFamily="34" charset="-122"/>
                <a:cs typeface="Calibri" pitchFamily="34" charset="-120"/>
              </a:rPr>
              <a:t>▸  Ongoing advisory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1E2637"/>
                </a:solidFill>
                <a:latin typeface="Calibri" pitchFamily="34" charset="0"/>
                <a:ea typeface="Calibri" pitchFamily="34" charset="-122"/>
                <a:cs typeface="Calibri" pitchFamily="34" charset="-120"/>
              </a:rPr>
              <a:t>What We Deliver</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718096"/>
                </a:solidFill>
                <a:latin typeface="Calibri" pitchFamily="34" charset="0"/>
                <a:ea typeface="Calibri" pitchFamily="34" charset="-122"/>
                <a:cs typeface="Calibri" pitchFamily="34" charset="-120"/>
              </a:rPr>
              <a:t>Practical AI solutions matched to your specific business needs</a:t>
            </a:r>
            <a:endParaRPr lang="en-US" sz="1600" dirty="0"/>
          </a:p>
        </p:txBody>
      </p:sp>
      <p:sp>
        <p:nvSpPr>
          <p:cNvPr id="5" name="Shape 2"/>
          <p:cNvSpPr/>
          <p:nvPr/>
        </p:nvSpPr>
        <p:spPr>
          <a:xfrm>
            <a:off x="640080" y="1645920"/>
            <a:ext cx="352044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6" name="Shape 3"/>
          <p:cNvSpPr/>
          <p:nvPr/>
        </p:nvSpPr>
        <p:spPr>
          <a:xfrm>
            <a:off x="914400" y="1874520"/>
            <a:ext cx="457200" cy="54864"/>
          </a:xfrm>
          <a:prstGeom prst="rect">
            <a:avLst/>
          </a:prstGeom>
          <a:solidFill>
            <a:srgbClr val="1A8F6E"/>
          </a:solidFill>
          <a:ln/>
        </p:spPr>
      </p:sp>
      <p:sp>
        <p:nvSpPr>
          <p:cNvPr id="7" name="Text 4"/>
          <p:cNvSpPr/>
          <p:nvPr/>
        </p:nvSpPr>
        <p:spPr>
          <a:xfrm>
            <a:off x="914400" y="2011680"/>
            <a:ext cx="3017520" cy="4572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Operational Audits</a:t>
            </a:r>
            <a:endParaRPr lang="en-US" sz="1600" dirty="0"/>
          </a:p>
        </p:txBody>
      </p:sp>
      <p:sp>
        <p:nvSpPr>
          <p:cNvPr id="8" name="Text 5"/>
          <p:cNvSpPr/>
          <p:nvPr/>
        </p:nvSpPr>
        <p:spPr>
          <a:xfrm>
            <a:off x="914400" y="2560320"/>
            <a:ext cx="3017520" cy="822960"/>
          </a:xfrm>
          <a:prstGeom prst="rect">
            <a:avLst/>
          </a:prstGeom>
          <a:noFill/>
          <a:ln/>
        </p:spPr>
        <p:txBody>
          <a:bodyPr wrap="square" rtlCol="0" anchor="ctr"/>
          <a:lstStyle/>
          <a:p>
            <a:pPr indent="0" marL="0">
              <a:lnSpc>
                <a:spcPct val="130000"/>
              </a:lnSpc>
              <a:buNone/>
            </a:pPr>
            <a:r>
              <a:rPr lang="en-US" sz="1200" dirty="0">
                <a:solidFill>
                  <a:srgbClr val="2D3748"/>
                </a:solidFill>
                <a:latin typeface="Calibri" pitchFamily="34" charset="0"/>
                <a:ea typeface="Calibri" pitchFamily="34" charset="-122"/>
                <a:cs typeface="Calibri" pitchFamily="34" charset="-120"/>
              </a:rPr>
              <a:t>Map every workflow, identify bottlenecks, score opportunities by impact and ease</a:t>
            </a:r>
            <a:endParaRPr lang="en-US" sz="1200" dirty="0"/>
          </a:p>
        </p:txBody>
      </p:sp>
      <p:sp>
        <p:nvSpPr>
          <p:cNvPr id="9" name="Shape 6"/>
          <p:cNvSpPr/>
          <p:nvPr/>
        </p:nvSpPr>
        <p:spPr>
          <a:xfrm>
            <a:off x="4434840" y="1645920"/>
            <a:ext cx="352044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10" name="Shape 7"/>
          <p:cNvSpPr/>
          <p:nvPr/>
        </p:nvSpPr>
        <p:spPr>
          <a:xfrm>
            <a:off x="4709160" y="1874520"/>
            <a:ext cx="457200" cy="54864"/>
          </a:xfrm>
          <a:prstGeom prst="rect">
            <a:avLst/>
          </a:prstGeom>
          <a:solidFill>
            <a:srgbClr val="1A8F6E"/>
          </a:solidFill>
          <a:ln/>
        </p:spPr>
      </p:sp>
      <p:sp>
        <p:nvSpPr>
          <p:cNvPr id="11" name="Text 8"/>
          <p:cNvSpPr/>
          <p:nvPr/>
        </p:nvSpPr>
        <p:spPr>
          <a:xfrm>
            <a:off x="4709160" y="2011680"/>
            <a:ext cx="3017520" cy="4572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AI Tool Implementation</a:t>
            </a:r>
            <a:endParaRPr lang="en-US" sz="1600" dirty="0"/>
          </a:p>
        </p:txBody>
      </p:sp>
      <p:sp>
        <p:nvSpPr>
          <p:cNvPr id="12" name="Text 9"/>
          <p:cNvSpPr/>
          <p:nvPr/>
        </p:nvSpPr>
        <p:spPr>
          <a:xfrm>
            <a:off x="4709160" y="2560320"/>
            <a:ext cx="3017520" cy="822960"/>
          </a:xfrm>
          <a:prstGeom prst="rect">
            <a:avLst/>
          </a:prstGeom>
          <a:noFill/>
          <a:ln/>
        </p:spPr>
        <p:txBody>
          <a:bodyPr wrap="square" rtlCol="0" anchor="ctr"/>
          <a:lstStyle/>
          <a:p>
            <a:pPr indent="0" marL="0">
              <a:lnSpc>
                <a:spcPct val="130000"/>
              </a:lnSpc>
              <a:buNone/>
            </a:pPr>
            <a:r>
              <a:rPr lang="en-US" sz="1200" dirty="0">
                <a:solidFill>
                  <a:srgbClr val="2D3748"/>
                </a:solidFill>
                <a:latin typeface="Calibri" pitchFamily="34" charset="0"/>
                <a:ea typeface="Calibri" pitchFamily="34" charset="-122"/>
                <a:cs typeface="Calibri" pitchFamily="34" charset="-120"/>
              </a:rPr>
              <a:t>Set up and configure the right AI tools — chatbots, writing assistants, analytics, automation</a:t>
            </a:r>
            <a:endParaRPr lang="en-US" sz="1200" dirty="0"/>
          </a:p>
        </p:txBody>
      </p:sp>
      <p:sp>
        <p:nvSpPr>
          <p:cNvPr id="13" name="Shape 10"/>
          <p:cNvSpPr/>
          <p:nvPr/>
        </p:nvSpPr>
        <p:spPr>
          <a:xfrm>
            <a:off x="8229600" y="1645920"/>
            <a:ext cx="352044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14" name="Shape 11"/>
          <p:cNvSpPr/>
          <p:nvPr/>
        </p:nvSpPr>
        <p:spPr>
          <a:xfrm>
            <a:off x="8503920" y="1874520"/>
            <a:ext cx="457200" cy="54864"/>
          </a:xfrm>
          <a:prstGeom prst="rect">
            <a:avLst/>
          </a:prstGeom>
          <a:solidFill>
            <a:srgbClr val="1A8F6E"/>
          </a:solidFill>
          <a:ln/>
        </p:spPr>
      </p:sp>
      <p:sp>
        <p:nvSpPr>
          <p:cNvPr id="15" name="Text 12"/>
          <p:cNvSpPr/>
          <p:nvPr/>
        </p:nvSpPr>
        <p:spPr>
          <a:xfrm>
            <a:off x="8503920" y="2011680"/>
            <a:ext cx="3017520" cy="4572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Custom Automations</a:t>
            </a:r>
            <a:endParaRPr lang="en-US" sz="1600" dirty="0"/>
          </a:p>
        </p:txBody>
      </p:sp>
      <p:sp>
        <p:nvSpPr>
          <p:cNvPr id="16" name="Text 13"/>
          <p:cNvSpPr/>
          <p:nvPr/>
        </p:nvSpPr>
        <p:spPr>
          <a:xfrm>
            <a:off x="8503920" y="2560320"/>
            <a:ext cx="3017520" cy="822960"/>
          </a:xfrm>
          <a:prstGeom prst="rect">
            <a:avLst/>
          </a:prstGeom>
          <a:noFill/>
          <a:ln/>
        </p:spPr>
        <p:txBody>
          <a:bodyPr wrap="square" rtlCol="0" anchor="ctr"/>
          <a:lstStyle/>
          <a:p>
            <a:pPr indent="0" marL="0">
              <a:lnSpc>
                <a:spcPct val="130000"/>
              </a:lnSpc>
              <a:buNone/>
            </a:pPr>
            <a:r>
              <a:rPr lang="en-US" sz="1200" dirty="0">
                <a:solidFill>
                  <a:srgbClr val="2D3748"/>
                </a:solidFill>
                <a:latin typeface="Calibri" pitchFamily="34" charset="0"/>
                <a:ea typeface="Calibri" pitchFamily="34" charset="-122"/>
                <a:cs typeface="Calibri" pitchFamily="34" charset="-120"/>
              </a:rPr>
              <a:t>Build WhatsApp bots, automated reports, invoice processing, and workflow integrations</a:t>
            </a:r>
            <a:endParaRPr lang="en-US" sz="1200" dirty="0"/>
          </a:p>
        </p:txBody>
      </p:sp>
      <p:sp>
        <p:nvSpPr>
          <p:cNvPr id="17" name="Shape 14"/>
          <p:cNvSpPr/>
          <p:nvPr/>
        </p:nvSpPr>
        <p:spPr>
          <a:xfrm>
            <a:off x="640080" y="3931920"/>
            <a:ext cx="352044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18" name="Shape 15"/>
          <p:cNvSpPr/>
          <p:nvPr/>
        </p:nvSpPr>
        <p:spPr>
          <a:xfrm>
            <a:off x="914400" y="4160520"/>
            <a:ext cx="457200" cy="54864"/>
          </a:xfrm>
          <a:prstGeom prst="rect">
            <a:avLst/>
          </a:prstGeom>
          <a:solidFill>
            <a:srgbClr val="1A8F6E"/>
          </a:solidFill>
          <a:ln/>
        </p:spPr>
      </p:sp>
      <p:sp>
        <p:nvSpPr>
          <p:cNvPr id="19" name="Text 16"/>
          <p:cNvSpPr/>
          <p:nvPr/>
        </p:nvSpPr>
        <p:spPr>
          <a:xfrm>
            <a:off x="914400" y="4297680"/>
            <a:ext cx="3017520" cy="4572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Staff Training</a:t>
            </a:r>
            <a:endParaRPr lang="en-US" sz="1600" dirty="0"/>
          </a:p>
        </p:txBody>
      </p:sp>
      <p:sp>
        <p:nvSpPr>
          <p:cNvPr id="20" name="Text 17"/>
          <p:cNvSpPr/>
          <p:nvPr/>
        </p:nvSpPr>
        <p:spPr>
          <a:xfrm>
            <a:off x="914400" y="4846320"/>
            <a:ext cx="3017520" cy="822960"/>
          </a:xfrm>
          <a:prstGeom prst="rect">
            <a:avLst/>
          </a:prstGeom>
          <a:noFill/>
          <a:ln/>
        </p:spPr>
        <p:txBody>
          <a:bodyPr wrap="square" rtlCol="0" anchor="ctr"/>
          <a:lstStyle/>
          <a:p>
            <a:pPr indent="0" marL="0">
              <a:lnSpc>
                <a:spcPct val="130000"/>
              </a:lnSpc>
              <a:buNone/>
            </a:pPr>
            <a:r>
              <a:rPr lang="en-US" sz="1200" dirty="0">
                <a:solidFill>
                  <a:srgbClr val="2D3748"/>
                </a:solidFill>
                <a:latin typeface="Calibri" pitchFamily="34" charset="0"/>
                <a:ea typeface="Calibri" pitchFamily="34" charset="-122"/>
                <a:cs typeface="Calibri" pitchFamily="34" charset="-120"/>
              </a:rPr>
              <a:t>Hands-on workshops from AI basics to department-specific advanced sessions</a:t>
            </a:r>
            <a:endParaRPr lang="en-US" sz="1200" dirty="0"/>
          </a:p>
        </p:txBody>
      </p:sp>
      <p:sp>
        <p:nvSpPr>
          <p:cNvPr id="21" name="Shape 18"/>
          <p:cNvSpPr/>
          <p:nvPr/>
        </p:nvSpPr>
        <p:spPr>
          <a:xfrm>
            <a:off x="4434840" y="3931920"/>
            <a:ext cx="352044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22" name="Shape 19"/>
          <p:cNvSpPr/>
          <p:nvPr/>
        </p:nvSpPr>
        <p:spPr>
          <a:xfrm>
            <a:off x="4709160" y="4160520"/>
            <a:ext cx="457200" cy="54864"/>
          </a:xfrm>
          <a:prstGeom prst="rect">
            <a:avLst/>
          </a:prstGeom>
          <a:solidFill>
            <a:srgbClr val="1A8F6E"/>
          </a:solidFill>
          <a:ln/>
        </p:spPr>
      </p:sp>
      <p:sp>
        <p:nvSpPr>
          <p:cNvPr id="23" name="Text 20"/>
          <p:cNvSpPr/>
          <p:nvPr/>
        </p:nvSpPr>
        <p:spPr>
          <a:xfrm>
            <a:off x="4709160" y="4297680"/>
            <a:ext cx="3017520" cy="4572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Change Management</a:t>
            </a:r>
            <a:endParaRPr lang="en-US" sz="1600" dirty="0"/>
          </a:p>
        </p:txBody>
      </p:sp>
      <p:sp>
        <p:nvSpPr>
          <p:cNvPr id="24" name="Text 21"/>
          <p:cNvSpPr/>
          <p:nvPr/>
        </p:nvSpPr>
        <p:spPr>
          <a:xfrm>
            <a:off x="4709160" y="4846320"/>
            <a:ext cx="3017520" cy="822960"/>
          </a:xfrm>
          <a:prstGeom prst="rect">
            <a:avLst/>
          </a:prstGeom>
          <a:noFill/>
          <a:ln/>
        </p:spPr>
        <p:txBody>
          <a:bodyPr wrap="square" rtlCol="0" anchor="ctr"/>
          <a:lstStyle/>
          <a:p>
            <a:pPr indent="0" marL="0">
              <a:lnSpc>
                <a:spcPct val="130000"/>
              </a:lnSpc>
              <a:buNone/>
            </a:pPr>
            <a:r>
              <a:rPr lang="en-US" sz="1200" dirty="0">
                <a:solidFill>
                  <a:srgbClr val="2D3748"/>
                </a:solidFill>
                <a:latin typeface="Calibri" pitchFamily="34" charset="0"/>
                <a:ea typeface="Calibri" pitchFamily="34" charset="-122"/>
                <a:cs typeface="Calibri" pitchFamily="34" charset="-120"/>
              </a:rPr>
              <a:t>Internal communications, champion programs, and adoption strategies that stick</a:t>
            </a:r>
            <a:endParaRPr lang="en-US" sz="1200" dirty="0"/>
          </a:p>
        </p:txBody>
      </p:sp>
      <p:sp>
        <p:nvSpPr>
          <p:cNvPr id="25" name="Shape 22"/>
          <p:cNvSpPr/>
          <p:nvPr/>
        </p:nvSpPr>
        <p:spPr>
          <a:xfrm>
            <a:off x="8229600" y="3931920"/>
            <a:ext cx="3520440" cy="1920240"/>
          </a:xfrm>
          <a:prstGeom prst="roundRect">
            <a:avLst>
              <a:gd name="adj" fmla="val 4762"/>
            </a:avLst>
          </a:prstGeom>
          <a:solidFill>
            <a:srgbClr val="FFFFFF"/>
          </a:solidFill>
          <a:ln/>
          <a:effectLst>
            <a:outerShdw sx="100000" sy="100000" kx="0" ky="0" algn="bl" rotWithShape="0" blurRad="101600" dist="25400" dir="16200000">
              <a:srgbClr val="000000">
                <a:alpha val="15000"/>
              </a:srgbClr>
            </a:outerShdw>
          </a:effectLst>
        </p:spPr>
      </p:sp>
      <p:sp>
        <p:nvSpPr>
          <p:cNvPr id="26" name="Shape 23"/>
          <p:cNvSpPr/>
          <p:nvPr/>
        </p:nvSpPr>
        <p:spPr>
          <a:xfrm>
            <a:off x="8503920" y="4160520"/>
            <a:ext cx="457200" cy="54864"/>
          </a:xfrm>
          <a:prstGeom prst="rect">
            <a:avLst/>
          </a:prstGeom>
          <a:solidFill>
            <a:srgbClr val="1A8F6E"/>
          </a:solidFill>
          <a:ln/>
        </p:spPr>
      </p:sp>
      <p:sp>
        <p:nvSpPr>
          <p:cNvPr id="27" name="Text 24"/>
          <p:cNvSpPr/>
          <p:nvPr/>
        </p:nvSpPr>
        <p:spPr>
          <a:xfrm>
            <a:off x="8503920" y="4297680"/>
            <a:ext cx="3017520" cy="4572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Ongoing Advisory</a:t>
            </a:r>
            <a:endParaRPr lang="en-US" sz="1600" dirty="0"/>
          </a:p>
        </p:txBody>
      </p:sp>
      <p:sp>
        <p:nvSpPr>
          <p:cNvPr id="28" name="Text 25"/>
          <p:cNvSpPr/>
          <p:nvPr/>
        </p:nvSpPr>
        <p:spPr>
          <a:xfrm>
            <a:off x="8503920" y="4846320"/>
            <a:ext cx="3017520" cy="822960"/>
          </a:xfrm>
          <a:prstGeom prst="rect">
            <a:avLst/>
          </a:prstGeom>
          <a:noFill/>
          <a:ln/>
        </p:spPr>
        <p:txBody>
          <a:bodyPr wrap="square" rtlCol="0" anchor="ctr"/>
          <a:lstStyle/>
          <a:p>
            <a:pPr indent="0" marL="0">
              <a:lnSpc>
                <a:spcPct val="130000"/>
              </a:lnSpc>
              <a:buNone/>
            </a:pPr>
            <a:r>
              <a:rPr lang="en-US" sz="1200" dirty="0">
                <a:solidFill>
                  <a:srgbClr val="2D3748"/>
                </a:solidFill>
                <a:latin typeface="Calibri" pitchFamily="34" charset="0"/>
                <a:ea typeface="Calibri" pitchFamily="34" charset="-122"/>
                <a:cs typeface="Calibri" pitchFamily="34" charset="-120"/>
              </a:rPr>
              <a:t>Monthly retainers for support, updates, refresher training, and strategic advice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Results That Matter</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E8EDF3"/>
                </a:solidFill>
                <a:latin typeface="Calibri" pitchFamily="34" charset="0"/>
                <a:ea typeface="Calibri" pitchFamily="34" charset="-122"/>
                <a:cs typeface="Calibri" pitchFamily="34" charset="-120"/>
              </a:rPr>
              <a:t>Real outcomes from AI implementation in businesses like yours</a:t>
            </a:r>
            <a:endParaRPr lang="en-US" sz="1600" dirty="0"/>
          </a:p>
        </p:txBody>
      </p:sp>
      <p:sp>
        <p:nvSpPr>
          <p:cNvPr id="5" name="Shape 2"/>
          <p:cNvSpPr/>
          <p:nvPr/>
        </p:nvSpPr>
        <p:spPr>
          <a:xfrm>
            <a:off x="457200" y="1737360"/>
            <a:ext cx="2697480" cy="3840480"/>
          </a:xfrm>
          <a:prstGeom prst="roundRect">
            <a:avLst>
              <a:gd name="adj" fmla="val 3390"/>
            </a:avLst>
          </a:prstGeom>
          <a:solidFill>
            <a:srgbClr val="141C2B"/>
          </a:solidFill>
          <a:ln/>
        </p:spPr>
      </p:sp>
      <p:sp>
        <p:nvSpPr>
          <p:cNvPr id="6" name="Text 3"/>
          <p:cNvSpPr/>
          <p:nvPr/>
        </p:nvSpPr>
        <p:spPr>
          <a:xfrm>
            <a:off x="457200" y="2011680"/>
            <a:ext cx="2697480" cy="914400"/>
          </a:xfrm>
          <a:prstGeom prst="rect">
            <a:avLst/>
          </a:prstGeom>
          <a:noFill/>
          <a:ln/>
        </p:spPr>
        <p:txBody>
          <a:bodyPr wrap="square" rtlCol="0" anchor="ctr"/>
          <a:lstStyle/>
          <a:p>
            <a:pPr algn="ctr" indent="0" marL="0">
              <a:buNone/>
            </a:pPr>
            <a:r>
              <a:rPr lang="en-US" sz="4800" b="1" dirty="0">
                <a:solidFill>
                  <a:srgbClr val="1A8F6E"/>
                </a:solidFill>
                <a:latin typeface="Calibri" pitchFamily="34" charset="0"/>
                <a:ea typeface="Calibri" pitchFamily="34" charset="-122"/>
                <a:cs typeface="Calibri" pitchFamily="34" charset="-120"/>
              </a:rPr>
              <a:t>40%</a:t>
            </a:r>
            <a:endParaRPr lang="en-US" sz="4800" dirty="0"/>
          </a:p>
        </p:txBody>
      </p:sp>
      <p:sp>
        <p:nvSpPr>
          <p:cNvPr id="7" name="Text 4"/>
          <p:cNvSpPr/>
          <p:nvPr/>
        </p:nvSpPr>
        <p:spPr>
          <a:xfrm>
            <a:off x="640080" y="3017520"/>
            <a:ext cx="2331720" cy="731520"/>
          </a:xfrm>
          <a:prstGeom prst="rect">
            <a:avLst/>
          </a:prstGeom>
          <a:noFill/>
          <a:ln/>
        </p:spPr>
        <p:txBody>
          <a:bodyPr wrap="square" rtlCol="0" anchor="ctr"/>
          <a:lstStyle/>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Reduction in</a:t>
            </a:r>
            <a:endParaRPr lang="en-US" sz="1500" dirty="0"/>
          </a:p>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report generation time</a:t>
            </a:r>
            <a:endParaRPr lang="en-US" sz="1500" dirty="0"/>
          </a:p>
        </p:txBody>
      </p:sp>
      <p:sp>
        <p:nvSpPr>
          <p:cNvPr id="8" name="Shape 5"/>
          <p:cNvSpPr/>
          <p:nvPr/>
        </p:nvSpPr>
        <p:spPr>
          <a:xfrm>
            <a:off x="1005840" y="3840480"/>
            <a:ext cx="1600200" cy="27432"/>
          </a:xfrm>
          <a:prstGeom prst="rect">
            <a:avLst/>
          </a:prstGeom>
          <a:solidFill>
            <a:srgbClr val="1A8F6E"/>
          </a:solidFill>
          <a:ln/>
        </p:spPr>
      </p:sp>
      <p:sp>
        <p:nvSpPr>
          <p:cNvPr id="9" name="Text 6"/>
          <p:cNvSpPr/>
          <p:nvPr/>
        </p:nvSpPr>
        <p:spPr>
          <a:xfrm>
            <a:off x="640080" y="4114800"/>
            <a:ext cx="2331720" cy="914400"/>
          </a:xfrm>
          <a:prstGeom prst="rect">
            <a:avLst/>
          </a:prstGeom>
          <a:noFill/>
          <a:ln/>
        </p:spPr>
        <p:txBody>
          <a:bodyPr wrap="square" rtlCol="0" anchor="ctr"/>
          <a:lstStyle/>
          <a:p>
            <a:pPr algn="ctr" indent="0" marL="0">
              <a:lnSpc>
                <a:spcPct val="130000"/>
              </a:lnSpc>
              <a:buNone/>
            </a:pPr>
            <a:r>
              <a:rPr lang="en-US" sz="1100" dirty="0">
                <a:solidFill>
                  <a:srgbClr val="718096"/>
                </a:solidFill>
                <a:latin typeface="Calibri" pitchFamily="34" charset="0"/>
                <a:ea typeface="Calibri" pitchFamily="34" charset="-122"/>
                <a:cs typeface="Calibri" pitchFamily="34" charset="-120"/>
              </a:rPr>
              <a:t>Finance department — automated monthly reporting</a:t>
            </a:r>
            <a:endParaRPr lang="en-US" sz="1100" dirty="0"/>
          </a:p>
        </p:txBody>
      </p:sp>
      <p:sp>
        <p:nvSpPr>
          <p:cNvPr id="10" name="Shape 7"/>
          <p:cNvSpPr/>
          <p:nvPr/>
        </p:nvSpPr>
        <p:spPr>
          <a:xfrm>
            <a:off x="3337560" y="1737360"/>
            <a:ext cx="2697480" cy="3840480"/>
          </a:xfrm>
          <a:prstGeom prst="roundRect">
            <a:avLst>
              <a:gd name="adj" fmla="val 3390"/>
            </a:avLst>
          </a:prstGeom>
          <a:solidFill>
            <a:srgbClr val="141C2B"/>
          </a:solidFill>
          <a:ln/>
        </p:spPr>
      </p:sp>
      <p:sp>
        <p:nvSpPr>
          <p:cNvPr id="11" name="Text 8"/>
          <p:cNvSpPr/>
          <p:nvPr/>
        </p:nvSpPr>
        <p:spPr>
          <a:xfrm>
            <a:off x="3337560" y="2011680"/>
            <a:ext cx="2697480" cy="914400"/>
          </a:xfrm>
          <a:prstGeom prst="rect">
            <a:avLst/>
          </a:prstGeom>
          <a:noFill/>
          <a:ln/>
        </p:spPr>
        <p:txBody>
          <a:bodyPr wrap="square" rtlCol="0" anchor="ctr"/>
          <a:lstStyle/>
          <a:p>
            <a:pPr algn="ctr" indent="0" marL="0">
              <a:buNone/>
            </a:pPr>
            <a:r>
              <a:rPr lang="en-US" sz="4800" b="1" dirty="0">
                <a:solidFill>
                  <a:srgbClr val="3B82F6"/>
                </a:solidFill>
                <a:latin typeface="Calibri" pitchFamily="34" charset="0"/>
                <a:ea typeface="Calibri" pitchFamily="34" charset="-122"/>
                <a:cs typeface="Calibri" pitchFamily="34" charset="-120"/>
              </a:rPr>
              <a:t>15 hrs</a:t>
            </a:r>
            <a:endParaRPr lang="en-US" sz="4800" dirty="0"/>
          </a:p>
        </p:txBody>
      </p:sp>
      <p:sp>
        <p:nvSpPr>
          <p:cNvPr id="12" name="Text 9"/>
          <p:cNvSpPr/>
          <p:nvPr/>
        </p:nvSpPr>
        <p:spPr>
          <a:xfrm>
            <a:off x="3520440" y="3017520"/>
            <a:ext cx="2331720" cy="731520"/>
          </a:xfrm>
          <a:prstGeom prst="rect">
            <a:avLst/>
          </a:prstGeom>
          <a:noFill/>
          <a:ln/>
        </p:spPr>
        <p:txBody>
          <a:bodyPr wrap="square" rtlCol="0" anchor="ctr"/>
          <a:lstStyle/>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Saved per week</a:t>
            </a:r>
            <a:endParaRPr lang="en-US" sz="1500" dirty="0"/>
          </a:p>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per department</a:t>
            </a:r>
            <a:endParaRPr lang="en-US" sz="1500" dirty="0"/>
          </a:p>
        </p:txBody>
      </p:sp>
      <p:sp>
        <p:nvSpPr>
          <p:cNvPr id="13" name="Shape 10"/>
          <p:cNvSpPr/>
          <p:nvPr/>
        </p:nvSpPr>
        <p:spPr>
          <a:xfrm>
            <a:off x="3886200" y="3840480"/>
            <a:ext cx="1600200" cy="27432"/>
          </a:xfrm>
          <a:prstGeom prst="rect">
            <a:avLst/>
          </a:prstGeom>
          <a:solidFill>
            <a:srgbClr val="3B82F6"/>
          </a:solidFill>
          <a:ln/>
        </p:spPr>
      </p:sp>
      <p:sp>
        <p:nvSpPr>
          <p:cNvPr id="14" name="Text 11"/>
          <p:cNvSpPr/>
          <p:nvPr/>
        </p:nvSpPr>
        <p:spPr>
          <a:xfrm>
            <a:off x="3520440" y="4114800"/>
            <a:ext cx="2331720" cy="914400"/>
          </a:xfrm>
          <a:prstGeom prst="rect">
            <a:avLst/>
          </a:prstGeom>
          <a:noFill/>
          <a:ln/>
        </p:spPr>
        <p:txBody>
          <a:bodyPr wrap="square" rtlCol="0" anchor="ctr"/>
          <a:lstStyle/>
          <a:p>
            <a:pPr algn="ctr" indent="0" marL="0">
              <a:lnSpc>
                <a:spcPct val="130000"/>
              </a:lnSpc>
              <a:buNone/>
            </a:pPr>
            <a:r>
              <a:rPr lang="en-US" sz="1100" dirty="0">
                <a:solidFill>
                  <a:srgbClr val="718096"/>
                </a:solidFill>
                <a:latin typeface="Calibri" pitchFamily="34" charset="0"/>
                <a:ea typeface="Calibri" pitchFamily="34" charset="-122"/>
                <a:cs typeface="Calibri" pitchFamily="34" charset="-120"/>
              </a:rPr>
              <a:t>Operations — workflow automation and AI assistants</a:t>
            </a:r>
            <a:endParaRPr lang="en-US" sz="1100" dirty="0"/>
          </a:p>
        </p:txBody>
      </p:sp>
      <p:sp>
        <p:nvSpPr>
          <p:cNvPr id="15" name="Shape 12"/>
          <p:cNvSpPr/>
          <p:nvPr/>
        </p:nvSpPr>
        <p:spPr>
          <a:xfrm>
            <a:off x="6217920" y="1737360"/>
            <a:ext cx="2697480" cy="3840480"/>
          </a:xfrm>
          <a:prstGeom prst="roundRect">
            <a:avLst>
              <a:gd name="adj" fmla="val 3390"/>
            </a:avLst>
          </a:prstGeom>
          <a:solidFill>
            <a:srgbClr val="141C2B"/>
          </a:solidFill>
          <a:ln/>
        </p:spPr>
      </p:sp>
      <p:sp>
        <p:nvSpPr>
          <p:cNvPr id="16" name="Text 13"/>
          <p:cNvSpPr/>
          <p:nvPr/>
        </p:nvSpPr>
        <p:spPr>
          <a:xfrm>
            <a:off x="6217920" y="2011680"/>
            <a:ext cx="2697480" cy="914400"/>
          </a:xfrm>
          <a:prstGeom prst="rect">
            <a:avLst/>
          </a:prstGeom>
          <a:noFill/>
          <a:ln/>
        </p:spPr>
        <p:txBody>
          <a:bodyPr wrap="square" rtlCol="0" anchor="ctr"/>
          <a:lstStyle/>
          <a:p>
            <a:pPr algn="ctr" indent="0" marL="0">
              <a:buNone/>
            </a:pPr>
            <a:r>
              <a:rPr lang="en-US" sz="4800" b="1" dirty="0">
                <a:solidFill>
                  <a:srgbClr val="F5A623"/>
                </a:solidFill>
                <a:latin typeface="Calibri" pitchFamily="34" charset="0"/>
                <a:ea typeface="Calibri" pitchFamily="34" charset="-122"/>
                <a:cs typeface="Calibri" pitchFamily="34" charset="-120"/>
              </a:rPr>
              <a:t>3x</a:t>
            </a:r>
            <a:endParaRPr lang="en-US" sz="4800" dirty="0"/>
          </a:p>
        </p:txBody>
      </p:sp>
      <p:sp>
        <p:nvSpPr>
          <p:cNvPr id="17" name="Text 14"/>
          <p:cNvSpPr/>
          <p:nvPr/>
        </p:nvSpPr>
        <p:spPr>
          <a:xfrm>
            <a:off x="6400800" y="3017520"/>
            <a:ext cx="2331720" cy="731520"/>
          </a:xfrm>
          <a:prstGeom prst="rect">
            <a:avLst/>
          </a:prstGeom>
          <a:noFill/>
          <a:ln/>
        </p:spPr>
        <p:txBody>
          <a:bodyPr wrap="square" rtlCol="0" anchor="ctr"/>
          <a:lstStyle/>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Faster customer</a:t>
            </a:r>
            <a:endParaRPr lang="en-US" sz="1500" dirty="0"/>
          </a:p>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response time</a:t>
            </a:r>
            <a:endParaRPr lang="en-US" sz="1500" dirty="0"/>
          </a:p>
        </p:txBody>
      </p:sp>
      <p:sp>
        <p:nvSpPr>
          <p:cNvPr id="18" name="Shape 15"/>
          <p:cNvSpPr/>
          <p:nvPr/>
        </p:nvSpPr>
        <p:spPr>
          <a:xfrm>
            <a:off x="6766560" y="3840480"/>
            <a:ext cx="1600200" cy="27432"/>
          </a:xfrm>
          <a:prstGeom prst="rect">
            <a:avLst/>
          </a:prstGeom>
          <a:solidFill>
            <a:srgbClr val="F5A623"/>
          </a:solidFill>
          <a:ln/>
        </p:spPr>
      </p:sp>
      <p:sp>
        <p:nvSpPr>
          <p:cNvPr id="19" name="Text 16"/>
          <p:cNvSpPr/>
          <p:nvPr/>
        </p:nvSpPr>
        <p:spPr>
          <a:xfrm>
            <a:off x="6400800" y="4114800"/>
            <a:ext cx="2331720" cy="914400"/>
          </a:xfrm>
          <a:prstGeom prst="rect">
            <a:avLst/>
          </a:prstGeom>
          <a:noFill/>
          <a:ln/>
        </p:spPr>
        <p:txBody>
          <a:bodyPr wrap="square" rtlCol="0" anchor="ctr"/>
          <a:lstStyle/>
          <a:p>
            <a:pPr algn="ctr" indent="0" marL="0">
              <a:lnSpc>
                <a:spcPct val="130000"/>
              </a:lnSpc>
              <a:buNone/>
            </a:pPr>
            <a:r>
              <a:rPr lang="en-US" sz="1100" dirty="0">
                <a:solidFill>
                  <a:srgbClr val="718096"/>
                </a:solidFill>
                <a:latin typeface="Calibri" pitchFamily="34" charset="0"/>
                <a:ea typeface="Calibri" pitchFamily="34" charset="-122"/>
                <a:cs typeface="Calibri" pitchFamily="34" charset="-120"/>
              </a:rPr>
              <a:t>Customer service — WhatsApp chatbot deployment</a:t>
            </a:r>
            <a:endParaRPr lang="en-US" sz="1100" dirty="0"/>
          </a:p>
        </p:txBody>
      </p:sp>
      <p:sp>
        <p:nvSpPr>
          <p:cNvPr id="20" name="Shape 17"/>
          <p:cNvSpPr/>
          <p:nvPr/>
        </p:nvSpPr>
        <p:spPr>
          <a:xfrm>
            <a:off x="9098280" y="1737360"/>
            <a:ext cx="2697480" cy="3840480"/>
          </a:xfrm>
          <a:prstGeom prst="roundRect">
            <a:avLst>
              <a:gd name="adj" fmla="val 3390"/>
            </a:avLst>
          </a:prstGeom>
          <a:solidFill>
            <a:srgbClr val="141C2B"/>
          </a:solidFill>
          <a:ln/>
        </p:spPr>
      </p:sp>
      <p:sp>
        <p:nvSpPr>
          <p:cNvPr id="21" name="Text 18"/>
          <p:cNvSpPr/>
          <p:nvPr/>
        </p:nvSpPr>
        <p:spPr>
          <a:xfrm>
            <a:off x="9098280" y="2011680"/>
            <a:ext cx="2697480" cy="914400"/>
          </a:xfrm>
          <a:prstGeom prst="rect">
            <a:avLst/>
          </a:prstGeom>
          <a:noFill/>
          <a:ln/>
        </p:spPr>
        <p:txBody>
          <a:bodyPr wrap="square" rtlCol="0" anchor="ctr"/>
          <a:lstStyle/>
          <a:p>
            <a:pPr algn="ctr" indent="0" marL="0">
              <a:buNone/>
            </a:pPr>
            <a:r>
              <a:rPr lang="en-US" sz="4800" b="1" dirty="0">
                <a:solidFill>
                  <a:srgbClr val="8B5CF6"/>
                </a:solidFill>
                <a:latin typeface="Calibri" pitchFamily="34" charset="0"/>
                <a:ea typeface="Calibri" pitchFamily="34" charset="-122"/>
                <a:cs typeface="Calibri" pitchFamily="34" charset="-120"/>
              </a:rPr>
              <a:t>60%</a:t>
            </a:r>
            <a:endParaRPr lang="en-US" sz="4800" dirty="0"/>
          </a:p>
        </p:txBody>
      </p:sp>
      <p:sp>
        <p:nvSpPr>
          <p:cNvPr id="22" name="Text 19"/>
          <p:cNvSpPr/>
          <p:nvPr/>
        </p:nvSpPr>
        <p:spPr>
          <a:xfrm>
            <a:off x="9281160" y="3017520"/>
            <a:ext cx="2331720" cy="731520"/>
          </a:xfrm>
          <a:prstGeom prst="rect">
            <a:avLst/>
          </a:prstGeom>
          <a:noFill/>
          <a:ln/>
        </p:spPr>
        <p:txBody>
          <a:bodyPr wrap="square" rtlCol="0" anchor="ctr"/>
          <a:lstStyle/>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Reduction in</a:t>
            </a:r>
            <a:endParaRPr lang="en-US" sz="1500" dirty="0"/>
          </a:p>
          <a:p>
            <a:pPr algn="ctr" indent="0" marL="0">
              <a:lnSpc>
                <a:spcPct val="120000"/>
              </a:lnSpc>
              <a:buNone/>
            </a:pPr>
            <a:r>
              <a:rPr lang="en-US" sz="1500" b="1" dirty="0">
                <a:solidFill>
                  <a:srgbClr val="FFFFFF"/>
                </a:solidFill>
                <a:latin typeface="Calibri" pitchFamily="34" charset="0"/>
                <a:ea typeface="Calibri" pitchFamily="34" charset="-122"/>
                <a:cs typeface="Calibri" pitchFamily="34" charset="-120"/>
              </a:rPr>
              <a:t>manual data entry</a:t>
            </a:r>
            <a:endParaRPr lang="en-US" sz="1500" dirty="0"/>
          </a:p>
        </p:txBody>
      </p:sp>
      <p:sp>
        <p:nvSpPr>
          <p:cNvPr id="23" name="Shape 20"/>
          <p:cNvSpPr/>
          <p:nvPr/>
        </p:nvSpPr>
        <p:spPr>
          <a:xfrm>
            <a:off x="9646920" y="3840480"/>
            <a:ext cx="1600200" cy="27432"/>
          </a:xfrm>
          <a:prstGeom prst="rect">
            <a:avLst/>
          </a:prstGeom>
          <a:solidFill>
            <a:srgbClr val="8B5CF6"/>
          </a:solidFill>
          <a:ln/>
        </p:spPr>
      </p:sp>
      <p:sp>
        <p:nvSpPr>
          <p:cNvPr id="24" name="Text 21"/>
          <p:cNvSpPr/>
          <p:nvPr/>
        </p:nvSpPr>
        <p:spPr>
          <a:xfrm>
            <a:off x="9281160" y="4114800"/>
            <a:ext cx="2331720" cy="914400"/>
          </a:xfrm>
          <a:prstGeom prst="rect">
            <a:avLst/>
          </a:prstGeom>
          <a:noFill/>
          <a:ln/>
        </p:spPr>
        <p:txBody>
          <a:bodyPr wrap="square" rtlCol="0" anchor="ctr"/>
          <a:lstStyle/>
          <a:p>
            <a:pPr algn="ctr" indent="0" marL="0">
              <a:lnSpc>
                <a:spcPct val="130000"/>
              </a:lnSpc>
              <a:buNone/>
            </a:pPr>
            <a:r>
              <a:rPr lang="en-US" sz="1100" dirty="0">
                <a:solidFill>
                  <a:srgbClr val="718096"/>
                </a:solidFill>
                <a:latin typeface="Calibri" pitchFamily="34" charset="0"/>
                <a:ea typeface="Calibri" pitchFamily="34" charset="-122"/>
                <a:cs typeface="Calibri" pitchFamily="34" charset="-120"/>
              </a:rPr>
              <a:t>HR &amp; Admin — AI-powered document processing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1E2637"/>
                </a:solidFill>
                <a:latin typeface="Calibri" pitchFamily="34" charset="0"/>
                <a:ea typeface="Calibri" pitchFamily="34" charset="-122"/>
                <a:cs typeface="Calibri" pitchFamily="34" charset="-120"/>
              </a:rPr>
              <a:t>AI by Industry</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718096"/>
                </a:solidFill>
                <a:latin typeface="Calibri" pitchFamily="34" charset="0"/>
                <a:ea typeface="Calibri" pitchFamily="34" charset="-122"/>
                <a:cs typeface="Calibri" pitchFamily="34" charset="-120"/>
              </a:rPr>
              <a:t>Specific, practical applications for every sector</a:t>
            </a:r>
            <a:endParaRPr lang="en-US" sz="1600" dirty="0"/>
          </a:p>
        </p:txBody>
      </p:sp>
      <p:sp>
        <p:nvSpPr>
          <p:cNvPr id="5" name="Shape 2"/>
          <p:cNvSpPr/>
          <p:nvPr/>
        </p:nvSpPr>
        <p:spPr>
          <a:xfrm>
            <a:off x="640080" y="1554480"/>
            <a:ext cx="5349240" cy="1234440"/>
          </a:xfrm>
          <a:prstGeom prst="roundRect">
            <a:avLst>
              <a:gd name="adj" fmla="val 7407"/>
            </a:avLst>
          </a:prstGeom>
          <a:solidFill>
            <a:srgbClr val="FFFFFF"/>
          </a:solidFill>
          <a:ln/>
          <a:effectLst>
            <a:outerShdw sx="100000" sy="100000" kx="0" ky="0" algn="bl" rotWithShape="0" blurRad="101600" dist="25400" dir="16200000">
              <a:srgbClr val="000000">
                <a:alpha val="15000"/>
              </a:srgbClr>
            </a:outerShdw>
          </a:effectLst>
        </p:spPr>
      </p:sp>
      <p:sp>
        <p:nvSpPr>
          <p:cNvPr id="6" name="Text 3"/>
          <p:cNvSpPr/>
          <p:nvPr/>
        </p:nvSpPr>
        <p:spPr>
          <a:xfrm>
            <a:off x="914400" y="1691640"/>
            <a:ext cx="1828800" cy="41148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Banking</a:t>
            </a:r>
            <a:endParaRPr lang="en-US" sz="1600" dirty="0"/>
          </a:p>
        </p:txBody>
      </p:sp>
      <p:sp>
        <p:nvSpPr>
          <p:cNvPr id="7" name="Text 4"/>
          <p:cNvSpPr/>
          <p:nvPr/>
        </p:nvSpPr>
        <p:spPr>
          <a:xfrm>
            <a:off x="914400" y="2103120"/>
            <a:ext cx="4846320" cy="548640"/>
          </a:xfrm>
          <a:prstGeom prst="rect">
            <a:avLst/>
          </a:prstGeom>
          <a:noFill/>
          <a:ln/>
        </p:spPr>
        <p:txBody>
          <a:bodyPr wrap="square" rtlCol="0" anchor="ctr"/>
          <a:lstStyle/>
          <a:p>
            <a:pPr indent="0" marL="0">
              <a:lnSpc>
                <a:spcPct val="125000"/>
              </a:lnSpc>
              <a:buNone/>
            </a:pPr>
            <a:r>
              <a:rPr lang="en-US" sz="1150" dirty="0">
                <a:solidFill>
                  <a:srgbClr val="2D3748"/>
                </a:solidFill>
                <a:latin typeface="Calibri" pitchFamily="34" charset="0"/>
                <a:ea typeface="Calibri" pitchFamily="34" charset="-122"/>
                <a:cs typeface="Calibri" pitchFamily="34" charset="-120"/>
              </a:rPr>
              <a:t>Fraud detection, automated KYC, AI-powered loan assessment, customer chatbots</a:t>
            </a:r>
            <a:endParaRPr lang="en-US" sz="1150" dirty="0"/>
          </a:p>
        </p:txBody>
      </p:sp>
      <p:sp>
        <p:nvSpPr>
          <p:cNvPr id="8" name="Shape 5"/>
          <p:cNvSpPr/>
          <p:nvPr/>
        </p:nvSpPr>
        <p:spPr>
          <a:xfrm>
            <a:off x="6263640" y="1554480"/>
            <a:ext cx="5349240" cy="1234440"/>
          </a:xfrm>
          <a:prstGeom prst="roundRect">
            <a:avLst>
              <a:gd name="adj" fmla="val 7407"/>
            </a:avLst>
          </a:prstGeom>
          <a:solidFill>
            <a:srgbClr val="FFFFFF"/>
          </a:solidFill>
          <a:ln/>
          <a:effectLst>
            <a:outerShdw sx="100000" sy="100000" kx="0" ky="0" algn="bl" rotWithShape="0" blurRad="101600" dist="25400" dir="16200000">
              <a:srgbClr val="000000">
                <a:alpha val="15000"/>
              </a:srgbClr>
            </a:outerShdw>
          </a:effectLst>
        </p:spPr>
      </p:sp>
      <p:sp>
        <p:nvSpPr>
          <p:cNvPr id="9" name="Text 6"/>
          <p:cNvSpPr/>
          <p:nvPr/>
        </p:nvSpPr>
        <p:spPr>
          <a:xfrm>
            <a:off x="6537960" y="1691640"/>
            <a:ext cx="1828800" cy="41148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Healthcare</a:t>
            </a:r>
            <a:endParaRPr lang="en-US" sz="1600" dirty="0"/>
          </a:p>
        </p:txBody>
      </p:sp>
      <p:sp>
        <p:nvSpPr>
          <p:cNvPr id="10" name="Text 7"/>
          <p:cNvSpPr/>
          <p:nvPr/>
        </p:nvSpPr>
        <p:spPr>
          <a:xfrm>
            <a:off x="6537960" y="2103120"/>
            <a:ext cx="4846320" cy="548640"/>
          </a:xfrm>
          <a:prstGeom prst="rect">
            <a:avLst/>
          </a:prstGeom>
          <a:noFill/>
          <a:ln/>
        </p:spPr>
        <p:txBody>
          <a:bodyPr wrap="square" rtlCol="0" anchor="ctr"/>
          <a:lstStyle/>
          <a:p>
            <a:pPr indent="0" marL="0">
              <a:lnSpc>
                <a:spcPct val="125000"/>
              </a:lnSpc>
              <a:buNone/>
            </a:pPr>
            <a:r>
              <a:rPr lang="en-US" sz="1150" dirty="0">
                <a:solidFill>
                  <a:srgbClr val="2D3748"/>
                </a:solidFill>
                <a:latin typeface="Calibri" pitchFamily="34" charset="0"/>
                <a:ea typeface="Calibri" pitchFamily="34" charset="-122"/>
                <a:cs typeface="Calibri" pitchFamily="34" charset="-120"/>
              </a:rPr>
              <a:t>Appointment scheduling, patient record analysis, diagnostic support, drug interaction checking</a:t>
            </a:r>
            <a:endParaRPr lang="en-US" sz="1150" dirty="0"/>
          </a:p>
        </p:txBody>
      </p:sp>
      <p:sp>
        <p:nvSpPr>
          <p:cNvPr id="11" name="Shape 8"/>
          <p:cNvSpPr/>
          <p:nvPr/>
        </p:nvSpPr>
        <p:spPr>
          <a:xfrm>
            <a:off x="640080" y="3063240"/>
            <a:ext cx="5349240" cy="1234440"/>
          </a:xfrm>
          <a:prstGeom prst="roundRect">
            <a:avLst>
              <a:gd name="adj" fmla="val 7407"/>
            </a:avLst>
          </a:prstGeom>
          <a:solidFill>
            <a:srgbClr val="FFFFFF"/>
          </a:solidFill>
          <a:ln/>
          <a:effectLst>
            <a:outerShdw sx="100000" sy="100000" kx="0" ky="0" algn="bl" rotWithShape="0" blurRad="101600" dist="25400" dir="16200000">
              <a:srgbClr val="000000">
                <a:alpha val="15000"/>
              </a:srgbClr>
            </a:outerShdw>
          </a:effectLst>
        </p:spPr>
      </p:sp>
      <p:sp>
        <p:nvSpPr>
          <p:cNvPr id="12" name="Text 9"/>
          <p:cNvSpPr/>
          <p:nvPr/>
        </p:nvSpPr>
        <p:spPr>
          <a:xfrm>
            <a:off x="914400" y="3200400"/>
            <a:ext cx="1828800" cy="41148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Logistics</a:t>
            </a:r>
            <a:endParaRPr lang="en-US" sz="1600" dirty="0"/>
          </a:p>
        </p:txBody>
      </p:sp>
      <p:sp>
        <p:nvSpPr>
          <p:cNvPr id="13" name="Text 10"/>
          <p:cNvSpPr/>
          <p:nvPr/>
        </p:nvSpPr>
        <p:spPr>
          <a:xfrm>
            <a:off x="914400" y="3611880"/>
            <a:ext cx="4846320" cy="548640"/>
          </a:xfrm>
          <a:prstGeom prst="rect">
            <a:avLst/>
          </a:prstGeom>
          <a:noFill/>
          <a:ln/>
        </p:spPr>
        <p:txBody>
          <a:bodyPr wrap="square" rtlCol="0" anchor="ctr"/>
          <a:lstStyle/>
          <a:p>
            <a:pPr indent="0" marL="0">
              <a:lnSpc>
                <a:spcPct val="125000"/>
              </a:lnSpc>
              <a:buNone/>
            </a:pPr>
            <a:r>
              <a:rPr lang="en-US" sz="1150" dirty="0">
                <a:solidFill>
                  <a:srgbClr val="2D3748"/>
                </a:solidFill>
                <a:latin typeface="Calibri" pitchFamily="34" charset="0"/>
                <a:ea typeface="Calibri" pitchFamily="34" charset="-122"/>
                <a:cs typeface="Calibri" pitchFamily="34" charset="-120"/>
              </a:rPr>
              <a:t>Route optimization, demand forecasting, automated supplier comms, inventory prediction</a:t>
            </a:r>
            <a:endParaRPr lang="en-US" sz="1150" dirty="0"/>
          </a:p>
        </p:txBody>
      </p:sp>
      <p:sp>
        <p:nvSpPr>
          <p:cNvPr id="14" name="Shape 11"/>
          <p:cNvSpPr/>
          <p:nvPr/>
        </p:nvSpPr>
        <p:spPr>
          <a:xfrm>
            <a:off x="6263640" y="3063240"/>
            <a:ext cx="5349240" cy="1234440"/>
          </a:xfrm>
          <a:prstGeom prst="roundRect">
            <a:avLst>
              <a:gd name="adj" fmla="val 7407"/>
            </a:avLst>
          </a:prstGeom>
          <a:solidFill>
            <a:srgbClr val="FFFFFF"/>
          </a:solidFill>
          <a:ln/>
          <a:effectLst>
            <a:outerShdw sx="100000" sy="100000" kx="0" ky="0" algn="bl" rotWithShape="0" blurRad="101600" dist="25400" dir="16200000">
              <a:srgbClr val="000000">
                <a:alpha val="15000"/>
              </a:srgbClr>
            </a:outerShdw>
          </a:effectLst>
        </p:spPr>
      </p:sp>
      <p:sp>
        <p:nvSpPr>
          <p:cNvPr id="15" name="Text 12"/>
          <p:cNvSpPr/>
          <p:nvPr/>
        </p:nvSpPr>
        <p:spPr>
          <a:xfrm>
            <a:off x="6537960" y="3200400"/>
            <a:ext cx="1828800" cy="41148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Education</a:t>
            </a:r>
            <a:endParaRPr lang="en-US" sz="1600" dirty="0"/>
          </a:p>
        </p:txBody>
      </p:sp>
      <p:sp>
        <p:nvSpPr>
          <p:cNvPr id="16" name="Text 13"/>
          <p:cNvSpPr/>
          <p:nvPr/>
        </p:nvSpPr>
        <p:spPr>
          <a:xfrm>
            <a:off x="6537960" y="3611880"/>
            <a:ext cx="4846320" cy="548640"/>
          </a:xfrm>
          <a:prstGeom prst="rect">
            <a:avLst/>
          </a:prstGeom>
          <a:noFill/>
          <a:ln/>
        </p:spPr>
        <p:txBody>
          <a:bodyPr wrap="square" rtlCol="0" anchor="ctr"/>
          <a:lstStyle/>
          <a:p>
            <a:pPr indent="0" marL="0">
              <a:lnSpc>
                <a:spcPct val="125000"/>
              </a:lnSpc>
              <a:buNone/>
            </a:pPr>
            <a:r>
              <a:rPr lang="en-US" sz="1150" dirty="0">
                <a:solidFill>
                  <a:srgbClr val="2D3748"/>
                </a:solidFill>
                <a:latin typeface="Calibri" pitchFamily="34" charset="0"/>
                <a:ea typeface="Calibri" pitchFamily="34" charset="-122"/>
                <a:cs typeface="Calibri" pitchFamily="34" charset="-120"/>
              </a:rPr>
              <a:t>Automated grading, personalized learning paths, administrative automation, content creation</a:t>
            </a:r>
            <a:endParaRPr lang="en-US" sz="1150" dirty="0"/>
          </a:p>
        </p:txBody>
      </p:sp>
      <p:sp>
        <p:nvSpPr>
          <p:cNvPr id="17" name="Shape 14"/>
          <p:cNvSpPr/>
          <p:nvPr/>
        </p:nvSpPr>
        <p:spPr>
          <a:xfrm>
            <a:off x="640080" y="4572000"/>
            <a:ext cx="5349240" cy="1234440"/>
          </a:xfrm>
          <a:prstGeom prst="roundRect">
            <a:avLst>
              <a:gd name="adj" fmla="val 7407"/>
            </a:avLst>
          </a:prstGeom>
          <a:solidFill>
            <a:srgbClr val="FFFFFF"/>
          </a:solidFill>
          <a:ln/>
          <a:effectLst>
            <a:outerShdw sx="100000" sy="100000" kx="0" ky="0" algn="bl" rotWithShape="0" blurRad="101600" dist="25400" dir="16200000">
              <a:srgbClr val="000000">
                <a:alpha val="15000"/>
              </a:srgbClr>
            </a:outerShdw>
          </a:effectLst>
        </p:spPr>
      </p:sp>
      <p:sp>
        <p:nvSpPr>
          <p:cNvPr id="18" name="Text 15"/>
          <p:cNvSpPr/>
          <p:nvPr/>
        </p:nvSpPr>
        <p:spPr>
          <a:xfrm>
            <a:off x="914400" y="4709160"/>
            <a:ext cx="1828800" cy="41148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NGOs</a:t>
            </a:r>
            <a:endParaRPr lang="en-US" sz="1600" dirty="0"/>
          </a:p>
        </p:txBody>
      </p:sp>
      <p:sp>
        <p:nvSpPr>
          <p:cNvPr id="19" name="Text 16"/>
          <p:cNvSpPr/>
          <p:nvPr/>
        </p:nvSpPr>
        <p:spPr>
          <a:xfrm>
            <a:off x="914400" y="5120640"/>
            <a:ext cx="4846320" cy="548640"/>
          </a:xfrm>
          <a:prstGeom prst="rect">
            <a:avLst/>
          </a:prstGeom>
          <a:noFill/>
          <a:ln/>
        </p:spPr>
        <p:txBody>
          <a:bodyPr wrap="square" rtlCol="0" anchor="ctr"/>
          <a:lstStyle/>
          <a:p>
            <a:pPr indent="0" marL="0">
              <a:lnSpc>
                <a:spcPct val="125000"/>
              </a:lnSpc>
              <a:buNone/>
            </a:pPr>
            <a:r>
              <a:rPr lang="en-US" sz="1150" dirty="0">
                <a:solidFill>
                  <a:srgbClr val="2D3748"/>
                </a:solidFill>
                <a:latin typeface="Calibri" pitchFamily="34" charset="0"/>
                <a:ea typeface="Calibri" pitchFamily="34" charset="-122"/>
                <a:cs typeface="Calibri" pitchFamily="34" charset="-120"/>
              </a:rPr>
              <a:t>Grant report generation, impact analysis, donor communication, data collection automation</a:t>
            </a:r>
            <a:endParaRPr lang="en-US" sz="1150" dirty="0"/>
          </a:p>
        </p:txBody>
      </p:sp>
      <p:sp>
        <p:nvSpPr>
          <p:cNvPr id="20" name="Shape 17"/>
          <p:cNvSpPr/>
          <p:nvPr/>
        </p:nvSpPr>
        <p:spPr>
          <a:xfrm>
            <a:off x="6263640" y="4572000"/>
            <a:ext cx="5349240" cy="1234440"/>
          </a:xfrm>
          <a:prstGeom prst="roundRect">
            <a:avLst>
              <a:gd name="adj" fmla="val 7407"/>
            </a:avLst>
          </a:prstGeom>
          <a:solidFill>
            <a:srgbClr val="FFFFFF"/>
          </a:solidFill>
          <a:ln/>
          <a:effectLst>
            <a:outerShdw sx="100000" sy="100000" kx="0" ky="0" algn="bl" rotWithShape="0" blurRad="101600" dist="25400" dir="16200000">
              <a:srgbClr val="000000">
                <a:alpha val="15000"/>
              </a:srgbClr>
            </a:outerShdw>
          </a:effectLst>
        </p:spPr>
      </p:sp>
      <p:sp>
        <p:nvSpPr>
          <p:cNvPr id="21" name="Text 18"/>
          <p:cNvSpPr/>
          <p:nvPr/>
        </p:nvSpPr>
        <p:spPr>
          <a:xfrm>
            <a:off x="6537960" y="4709160"/>
            <a:ext cx="1828800" cy="41148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Retail</a:t>
            </a:r>
            <a:endParaRPr lang="en-US" sz="1600" dirty="0"/>
          </a:p>
        </p:txBody>
      </p:sp>
      <p:sp>
        <p:nvSpPr>
          <p:cNvPr id="22" name="Text 19"/>
          <p:cNvSpPr/>
          <p:nvPr/>
        </p:nvSpPr>
        <p:spPr>
          <a:xfrm>
            <a:off x="6537960" y="5120640"/>
            <a:ext cx="4846320" cy="548640"/>
          </a:xfrm>
          <a:prstGeom prst="rect">
            <a:avLst/>
          </a:prstGeom>
          <a:noFill/>
          <a:ln/>
        </p:spPr>
        <p:txBody>
          <a:bodyPr wrap="square" rtlCol="0" anchor="ctr"/>
          <a:lstStyle/>
          <a:p>
            <a:pPr indent="0" marL="0">
              <a:lnSpc>
                <a:spcPct val="125000"/>
              </a:lnSpc>
              <a:buNone/>
            </a:pPr>
            <a:r>
              <a:rPr lang="en-US" sz="1150" dirty="0">
                <a:solidFill>
                  <a:srgbClr val="2D3748"/>
                </a:solidFill>
                <a:latin typeface="Calibri" pitchFamily="34" charset="0"/>
                <a:ea typeface="Calibri" pitchFamily="34" charset="-122"/>
                <a:cs typeface="Calibri" pitchFamily="34" charset="-120"/>
              </a:rPr>
              <a:t>Customer segmentation, pricing optimization, inventory management, WhatsApp commerce bots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Training That Sticks</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E8EDF3"/>
                </a:solidFill>
                <a:latin typeface="Calibri" pitchFamily="34" charset="0"/>
                <a:ea typeface="Calibri" pitchFamily="34" charset="-122"/>
                <a:cs typeface="Calibri" pitchFamily="34" charset="-120"/>
              </a:rPr>
              <a:t>Practical, hands-on training designed for real adoption</a:t>
            </a:r>
            <a:endParaRPr lang="en-US" sz="1600" dirty="0"/>
          </a:p>
        </p:txBody>
      </p:sp>
      <p:sp>
        <p:nvSpPr>
          <p:cNvPr id="5" name="Shape 2"/>
          <p:cNvSpPr/>
          <p:nvPr/>
        </p:nvSpPr>
        <p:spPr>
          <a:xfrm>
            <a:off x="457200" y="1645920"/>
            <a:ext cx="11247120" cy="960120"/>
          </a:xfrm>
          <a:prstGeom prst="roundRect">
            <a:avLst>
              <a:gd name="adj" fmla="val 7619"/>
            </a:avLst>
          </a:prstGeom>
          <a:solidFill>
            <a:srgbClr val="141C2B"/>
          </a:solidFill>
          <a:ln/>
        </p:spPr>
      </p:sp>
      <p:sp>
        <p:nvSpPr>
          <p:cNvPr id="6" name="Shape 3"/>
          <p:cNvSpPr/>
          <p:nvPr/>
        </p:nvSpPr>
        <p:spPr>
          <a:xfrm>
            <a:off x="457200" y="1645920"/>
            <a:ext cx="73152" cy="960120"/>
          </a:xfrm>
          <a:prstGeom prst="rect">
            <a:avLst/>
          </a:prstGeom>
          <a:solidFill>
            <a:srgbClr val="1A8F6E"/>
          </a:solidFill>
          <a:ln/>
        </p:spPr>
      </p:sp>
      <p:sp>
        <p:nvSpPr>
          <p:cNvPr id="7" name="Text 4"/>
          <p:cNvSpPr/>
          <p:nvPr/>
        </p:nvSpPr>
        <p:spPr>
          <a:xfrm>
            <a:off x="822960" y="1645920"/>
            <a:ext cx="2743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 Literacy Foundation</a:t>
            </a:r>
            <a:endParaRPr lang="en-US" sz="1600" dirty="0"/>
          </a:p>
        </p:txBody>
      </p:sp>
      <p:sp>
        <p:nvSpPr>
          <p:cNvPr id="8" name="Text 5"/>
          <p:cNvSpPr/>
          <p:nvPr/>
        </p:nvSpPr>
        <p:spPr>
          <a:xfrm>
            <a:off x="822960" y="2103120"/>
            <a:ext cx="1828800" cy="365760"/>
          </a:xfrm>
          <a:prstGeom prst="rect">
            <a:avLst/>
          </a:prstGeom>
          <a:noFill/>
          <a:ln/>
        </p:spPr>
        <p:txBody>
          <a:bodyPr wrap="square" rtlCol="0" anchor="ctr"/>
          <a:lstStyle/>
          <a:p>
            <a:pPr indent="0" marL="0">
              <a:buNone/>
            </a:pPr>
            <a:r>
              <a:rPr lang="en-US" sz="1100" dirty="0">
                <a:solidFill>
                  <a:srgbClr val="1A8F6E"/>
                </a:solidFill>
                <a:latin typeface="Calibri" pitchFamily="34" charset="0"/>
                <a:ea typeface="Calibri" pitchFamily="34" charset="-122"/>
                <a:cs typeface="Calibri" pitchFamily="34" charset="-120"/>
              </a:rPr>
              <a:t>1 day (4-5 hrs)</a:t>
            </a:r>
            <a:endParaRPr lang="en-US" sz="1100" dirty="0"/>
          </a:p>
        </p:txBody>
      </p:sp>
      <p:sp>
        <p:nvSpPr>
          <p:cNvPr id="9" name="Text 6"/>
          <p:cNvSpPr/>
          <p:nvPr/>
        </p:nvSpPr>
        <p:spPr>
          <a:xfrm>
            <a:off x="2560320" y="2103120"/>
            <a:ext cx="1371600" cy="365760"/>
          </a:xfrm>
          <a:prstGeom prst="rect">
            <a:avLst/>
          </a:prstGeom>
          <a:noFill/>
          <a:ln/>
        </p:spPr>
        <p:txBody>
          <a:bodyPr wrap="square" rtlCol="0" anchor="ctr"/>
          <a:lstStyle/>
          <a:p>
            <a:pPr indent="0" marL="0">
              <a:buNone/>
            </a:pPr>
            <a:r>
              <a:rPr lang="en-US" sz="1100" dirty="0">
                <a:solidFill>
                  <a:srgbClr val="F5A623"/>
                </a:solidFill>
                <a:latin typeface="Calibri" pitchFamily="34" charset="0"/>
                <a:ea typeface="Calibri" pitchFamily="34" charset="-122"/>
                <a:cs typeface="Calibri" pitchFamily="34" charset="-120"/>
              </a:rPr>
              <a:t>All staff</a:t>
            </a:r>
            <a:endParaRPr lang="en-US" sz="1100" dirty="0"/>
          </a:p>
        </p:txBody>
      </p:sp>
      <p:sp>
        <p:nvSpPr>
          <p:cNvPr id="10" name="Text 7"/>
          <p:cNvSpPr/>
          <p:nvPr/>
        </p:nvSpPr>
        <p:spPr>
          <a:xfrm>
            <a:off x="4114800" y="1737360"/>
            <a:ext cx="7315200" cy="777240"/>
          </a:xfrm>
          <a:prstGeom prst="rect">
            <a:avLst/>
          </a:prstGeom>
          <a:noFill/>
          <a:ln/>
        </p:spPr>
        <p:txBody>
          <a:bodyPr wrap="square" rtlCol="0" anchor="ctr"/>
          <a:lstStyle/>
          <a:p>
            <a:pPr indent="0" marL="0">
              <a:lnSpc>
                <a:spcPct val="125000"/>
              </a:lnSpc>
              <a:buNone/>
            </a:pPr>
            <a:r>
              <a:rPr lang="en-US" sz="1200" dirty="0">
                <a:solidFill>
                  <a:srgbClr val="E8EDF3"/>
                </a:solidFill>
                <a:latin typeface="Calibri" pitchFamily="34" charset="0"/>
                <a:ea typeface="Calibri" pitchFamily="34" charset="-122"/>
                <a:cs typeface="Calibri" pitchFamily="34" charset="-120"/>
              </a:rPr>
              <a:t>What AI is, live demos, hands-on prompting exercises, ethics &amp; privacy</a:t>
            </a:r>
            <a:endParaRPr lang="en-US" sz="1200" dirty="0"/>
          </a:p>
        </p:txBody>
      </p:sp>
      <p:sp>
        <p:nvSpPr>
          <p:cNvPr id="11" name="Shape 8"/>
          <p:cNvSpPr/>
          <p:nvPr/>
        </p:nvSpPr>
        <p:spPr>
          <a:xfrm>
            <a:off x="457200" y="2788920"/>
            <a:ext cx="11247120" cy="960120"/>
          </a:xfrm>
          <a:prstGeom prst="roundRect">
            <a:avLst>
              <a:gd name="adj" fmla="val 7619"/>
            </a:avLst>
          </a:prstGeom>
          <a:solidFill>
            <a:srgbClr val="141C2B"/>
          </a:solidFill>
          <a:ln/>
        </p:spPr>
      </p:sp>
      <p:sp>
        <p:nvSpPr>
          <p:cNvPr id="12" name="Shape 9"/>
          <p:cNvSpPr/>
          <p:nvPr/>
        </p:nvSpPr>
        <p:spPr>
          <a:xfrm>
            <a:off x="457200" y="2788920"/>
            <a:ext cx="73152" cy="960120"/>
          </a:xfrm>
          <a:prstGeom prst="rect">
            <a:avLst/>
          </a:prstGeom>
          <a:solidFill>
            <a:srgbClr val="1A8F6E"/>
          </a:solidFill>
          <a:ln/>
        </p:spPr>
      </p:sp>
      <p:sp>
        <p:nvSpPr>
          <p:cNvPr id="13" name="Text 10"/>
          <p:cNvSpPr/>
          <p:nvPr/>
        </p:nvSpPr>
        <p:spPr>
          <a:xfrm>
            <a:off x="822960" y="2788920"/>
            <a:ext cx="2743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Department-Specific</a:t>
            </a:r>
            <a:endParaRPr lang="en-US" sz="1600" dirty="0"/>
          </a:p>
        </p:txBody>
      </p:sp>
      <p:sp>
        <p:nvSpPr>
          <p:cNvPr id="14" name="Text 11"/>
          <p:cNvSpPr/>
          <p:nvPr/>
        </p:nvSpPr>
        <p:spPr>
          <a:xfrm>
            <a:off x="822960" y="3246120"/>
            <a:ext cx="1828800" cy="365760"/>
          </a:xfrm>
          <a:prstGeom prst="rect">
            <a:avLst/>
          </a:prstGeom>
          <a:noFill/>
          <a:ln/>
        </p:spPr>
        <p:txBody>
          <a:bodyPr wrap="square" rtlCol="0" anchor="ctr"/>
          <a:lstStyle/>
          <a:p>
            <a:pPr indent="0" marL="0">
              <a:buNone/>
            </a:pPr>
            <a:r>
              <a:rPr lang="en-US" sz="1100" dirty="0">
                <a:solidFill>
                  <a:srgbClr val="1A8F6E"/>
                </a:solidFill>
                <a:latin typeface="Calibri" pitchFamily="34" charset="0"/>
                <a:ea typeface="Calibri" pitchFamily="34" charset="-122"/>
                <a:cs typeface="Calibri" pitchFamily="34" charset="-120"/>
              </a:rPr>
              <a:t>3 sessions × 3 hrs</a:t>
            </a:r>
            <a:endParaRPr lang="en-US" sz="1100" dirty="0"/>
          </a:p>
        </p:txBody>
      </p:sp>
      <p:sp>
        <p:nvSpPr>
          <p:cNvPr id="15" name="Text 12"/>
          <p:cNvSpPr/>
          <p:nvPr/>
        </p:nvSpPr>
        <p:spPr>
          <a:xfrm>
            <a:off x="2560320" y="3246120"/>
            <a:ext cx="1371600" cy="365760"/>
          </a:xfrm>
          <a:prstGeom prst="rect">
            <a:avLst/>
          </a:prstGeom>
          <a:noFill/>
          <a:ln/>
        </p:spPr>
        <p:txBody>
          <a:bodyPr wrap="square" rtlCol="0" anchor="ctr"/>
          <a:lstStyle/>
          <a:p>
            <a:pPr indent="0" marL="0">
              <a:buNone/>
            </a:pPr>
            <a:r>
              <a:rPr lang="en-US" sz="1100" dirty="0">
                <a:solidFill>
                  <a:srgbClr val="F5A623"/>
                </a:solidFill>
                <a:latin typeface="Calibri" pitchFamily="34" charset="0"/>
                <a:ea typeface="Calibri" pitchFamily="34" charset="-122"/>
                <a:cs typeface="Calibri" pitchFamily="34" charset="-120"/>
              </a:rPr>
              <a:t>Department teams</a:t>
            </a:r>
            <a:endParaRPr lang="en-US" sz="1100" dirty="0"/>
          </a:p>
        </p:txBody>
      </p:sp>
      <p:sp>
        <p:nvSpPr>
          <p:cNvPr id="16" name="Text 13"/>
          <p:cNvSpPr/>
          <p:nvPr/>
        </p:nvSpPr>
        <p:spPr>
          <a:xfrm>
            <a:off x="4114800" y="2880360"/>
            <a:ext cx="7315200" cy="777240"/>
          </a:xfrm>
          <a:prstGeom prst="rect">
            <a:avLst/>
          </a:prstGeom>
          <a:noFill/>
          <a:ln/>
        </p:spPr>
        <p:txBody>
          <a:bodyPr wrap="square" rtlCol="0" anchor="ctr"/>
          <a:lstStyle/>
          <a:p>
            <a:pPr indent="0" marL="0">
              <a:lnSpc>
                <a:spcPct val="125000"/>
              </a:lnSpc>
              <a:buNone/>
            </a:pPr>
            <a:r>
              <a:rPr lang="en-US" sz="1200" dirty="0">
                <a:solidFill>
                  <a:srgbClr val="E8EDF3"/>
                </a:solidFill>
                <a:latin typeface="Calibri" pitchFamily="34" charset="0"/>
                <a:ea typeface="Calibri" pitchFamily="34" charset="-122"/>
                <a:cs typeface="Calibri" pitchFamily="34" charset="-120"/>
              </a:rPr>
              <a:t>Tailored to each role — finance, marketing, HR, operations, customer service</a:t>
            </a:r>
            <a:endParaRPr lang="en-US" sz="1200" dirty="0"/>
          </a:p>
        </p:txBody>
      </p:sp>
      <p:sp>
        <p:nvSpPr>
          <p:cNvPr id="17" name="Shape 14"/>
          <p:cNvSpPr/>
          <p:nvPr/>
        </p:nvSpPr>
        <p:spPr>
          <a:xfrm>
            <a:off x="457200" y="3931920"/>
            <a:ext cx="11247120" cy="960120"/>
          </a:xfrm>
          <a:prstGeom prst="roundRect">
            <a:avLst>
              <a:gd name="adj" fmla="val 7619"/>
            </a:avLst>
          </a:prstGeom>
          <a:solidFill>
            <a:srgbClr val="141C2B"/>
          </a:solidFill>
          <a:ln/>
        </p:spPr>
      </p:sp>
      <p:sp>
        <p:nvSpPr>
          <p:cNvPr id="18" name="Shape 15"/>
          <p:cNvSpPr/>
          <p:nvPr/>
        </p:nvSpPr>
        <p:spPr>
          <a:xfrm>
            <a:off x="457200" y="3931920"/>
            <a:ext cx="73152" cy="960120"/>
          </a:xfrm>
          <a:prstGeom prst="rect">
            <a:avLst/>
          </a:prstGeom>
          <a:solidFill>
            <a:srgbClr val="1A8F6E"/>
          </a:solidFill>
          <a:ln/>
        </p:spPr>
      </p:sp>
      <p:sp>
        <p:nvSpPr>
          <p:cNvPr id="19" name="Text 16"/>
          <p:cNvSpPr/>
          <p:nvPr/>
        </p:nvSpPr>
        <p:spPr>
          <a:xfrm>
            <a:off x="822960" y="3931920"/>
            <a:ext cx="2743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Executive Briefing</a:t>
            </a:r>
            <a:endParaRPr lang="en-US" sz="1600" dirty="0"/>
          </a:p>
        </p:txBody>
      </p:sp>
      <p:sp>
        <p:nvSpPr>
          <p:cNvPr id="20" name="Text 17"/>
          <p:cNvSpPr/>
          <p:nvPr/>
        </p:nvSpPr>
        <p:spPr>
          <a:xfrm>
            <a:off x="822960" y="4389120"/>
            <a:ext cx="1828800" cy="365760"/>
          </a:xfrm>
          <a:prstGeom prst="rect">
            <a:avLst/>
          </a:prstGeom>
          <a:noFill/>
          <a:ln/>
        </p:spPr>
        <p:txBody>
          <a:bodyPr wrap="square" rtlCol="0" anchor="ctr"/>
          <a:lstStyle/>
          <a:p>
            <a:pPr indent="0" marL="0">
              <a:buNone/>
            </a:pPr>
            <a:r>
              <a:rPr lang="en-US" sz="1100" dirty="0">
                <a:solidFill>
                  <a:srgbClr val="1A8F6E"/>
                </a:solidFill>
                <a:latin typeface="Calibri" pitchFamily="34" charset="0"/>
                <a:ea typeface="Calibri" pitchFamily="34" charset="-122"/>
                <a:cs typeface="Calibri" pitchFamily="34" charset="-120"/>
              </a:rPr>
              <a:t>2 hours</a:t>
            </a:r>
            <a:endParaRPr lang="en-US" sz="1100" dirty="0"/>
          </a:p>
        </p:txBody>
      </p:sp>
      <p:sp>
        <p:nvSpPr>
          <p:cNvPr id="21" name="Text 18"/>
          <p:cNvSpPr/>
          <p:nvPr/>
        </p:nvSpPr>
        <p:spPr>
          <a:xfrm>
            <a:off x="2560320" y="4389120"/>
            <a:ext cx="1371600" cy="365760"/>
          </a:xfrm>
          <a:prstGeom prst="rect">
            <a:avLst/>
          </a:prstGeom>
          <a:noFill/>
          <a:ln/>
        </p:spPr>
        <p:txBody>
          <a:bodyPr wrap="square" rtlCol="0" anchor="ctr"/>
          <a:lstStyle/>
          <a:p>
            <a:pPr indent="0" marL="0">
              <a:buNone/>
            </a:pPr>
            <a:r>
              <a:rPr lang="en-US" sz="1100" dirty="0">
                <a:solidFill>
                  <a:srgbClr val="F5A623"/>
                </a:solidFill>
                <a:latin typeface="Calibri" pitchFamily="34" charset="0"/>
                <a:ea typeface="Calibri" pitchFamily="34" charset="-122"/>
                <a:cs typeface="Calibri" pitchFamily="34" charset="-120"/>
              </a:rPr>
              <a:t>C-suite &amp; board</a:t>
            </a:r>
            <a:endParaRPr lang="en-US" sz="1100" dirty="0"/>
          </a:p>
        </p:txBody>
      </p:sp>
      <p:sp>
        <p:nvSpPr>
          <p:cNvPr id="22" name="Text 19"/>
          <p:cNvSpPr/>
          <p:nvPr/>
        </p:nvSpPr>
        <p:spPr>
          <a:xfrm>
            <a:off x="4114800" y="4023360"/>
            <a:ext cx="7315200" cy="777240"/>
          </a:xfrm>
          <a:prstGeom prst="rect">
            <a:avLst/>
          </a:prstGeom>
          <a:noFill/>
          <a:ln/>
        </p:spPr>
        <p:txBody>
          <a:bodyPr wrap="square" rtlCol="0" anchor="ctr"/>
          <a:lstStyle/>
          <a:p>
            <a:pPr indent="0" marL="0">
              <a:lnSpc>
                <a:spcPct val="125000"/>
              </a:lnSpc>
              <a:buNone/>
            </a:pPr>
            <a:r>
              <a:rPr lang="en-US" sz="1200" dirty="0">
                <a:solidFill>
                  <a:srgbClr val="E8EDF3"/>
                </a:solidFill>
                <a:latin typeface="Calibri" pitchFamily="34" charset="0"/>
                <a:ea typeface="Calibri" pitchFamily="34" charset="-122"/>
                <a:cs typeface="Calibri" pitchFamily="34" charset="-120"/>
              </a:rPr>
              <a:t>AI strategy, ROI understanding, risk management, vendor evaluation</a:t>
            </a:r>
            <a:endParaRPr lang="en-US" sz="1200" dirty="0"/>
          </a:p>
        </p:txBody>
      </p:sp>
      <p:sp>
        <p:nvSpPr>
          <p:cNvPr id="23" name="Shape 20"/>
          <p:cNvSpPr/>
          <p:nvPr/>
        </p:nvSpPr>
        <p:spPr>
          <a:xfrm>
            <a:off x="457200" y="5074920"/>
            <a:ext cx="11247120" cy="960120"/>
          </a:xfrm>
          <a:prstGeom prst="roundRect">
            <a:avLst>
              <a:gd name="adj" fmla="val 7619"/>
            </a:avLst>
          </a:prstGeom>
          <a:solidFill>
            <a:srgbClr val="141C2B"/>
          </a:solidFill>
          <a:ln/>
        </p:spPr>
      </p:sp>
      <p:sp>
        <p:nvSpPr>
          <p:cNvPr id="24" name="Shape 21"/>
          <p:cNvSpPr/>
          <p:nvPr/>
        </p:nvSpPr>
        <p:spPr>
          <a:xfrm>
            <a:off x="457200" y="5074920"/>
            <a:ext cx="73152" cy="960120"/>
          </a:xfrm>
          <a:prstGeom prst="rect">
            <a:avLst/>
          </a:prstGeom>
          <a:solidFill>
            <a:srgbClr val="1A8F6E"/>
          </a:solidFill>
          <a:ln/>
        </p:spPr>
      </p:sp>
      <p:sp>
        <p:nvSpPr>
          <p:cNvPr id="25" name="Text 22"/>
          <p:cNvSpPr/>
          <p:nvPr/>
        </p:nvSpPr>
        <p:spPr>
          <a:xfrm>
            <a:off x="822960" y="5074920"/>
            <a:ext cx="27432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Technical Integration</a:t>
            </a:r>
            <a:endParaRPr lang="en-US" sz="1600" dirty="0"/>
          </a:p>
        </p:txBody>
      </p:sp>
      <p:sp>
        <p:nvSpPr>
          <p:cNvPr id="26" name="Text 23"/>
          <p:cNvSpPr/>
          <p:nvPr/>
        </p:nvSpPr>
        <p:spPr>
          <a:xfrm>
            <a:off x="822960" y="5532120"/>
            <a:ext cx="1828800" cy="365760"/>
          </a:xfrm>
          <a:prstGeom prst="rect">
            <a:avLst/>
          </a:prstGeom>
          <a:noFill/>
          <a:ln/>
        </p:spPr>
        <p:txBody>
          <a:bodyPr wrap="square" rtlCol="0" anchor="ctr"/>
          <a:lstStyle/>
          <a:p>
            <a:pPr indent="0" marL="0">
              <a:buNone/>
            </a:pPr>
            <a:r>
              <a:rPr lang="en-US" sz="1100" dirty="0">
                <a:solidFill>
                  <a:srgbClr val="1A8F6E"/>
                </a:solidFill>
                <a:latin typeface="Calibri" pitchFamily="34" charset="0"/>
                <a:ea typeface="Calibri" pitchFamily="34" charset="-122"/>
                <a:cs typeface="Calibri" pitchFamily="34" charset="-120"/>
              </a:rPr>
              <a:t>5-10 days</a:t>
            </a:r>
            <a:endParaRPr lang="en-US" sz="1100" dirty="0"/>
          </a:p>
        </p:txBody>
      </p:sp>
      <p:sp>
        <p:nvSpPr>
          <p:cNvPr id="27" name="Text 24"/>
          <p:cNvSpPr/>
          <p:nvPr/>
        </p:nvSpPr>
        <p:spPr>
          <a:xfrm>
            <a:off x="2560320" y="5532120"/>
            <a:ext cx="1371600" cy="365760"/>
          </a:xfrm>
          <a:prstGeom prst="rect">
            <a:avLst/>
          </a:prstGeom>
          <a:noFill/>
          <a:ln/>
        </p:spPr>
        <p:txBody>
          <a:bodyPr wrap="square" rtlCol="0" anchor="ctr"/>
          <a:lstStyle/>
          <a:p>
            <a:pPr indent="0" marL="0">
              <a:buNone/>
            </a:pPr>
            <a:r>
              <a:rPr lang="en-US" sz="1100" dirty="0">
                <a:solidFill>
                  <a:srgbClr val="F5A623"/>
                </a:solidFill>
                <a:latin typeface="Calibri" pitchFamily="34" charset="0"/>
                <a:ea typeface="Calibri" pitchFamily="34" charset="-122"/>
                <a:cs typeface="Calibri" pitchFamily="34" charset="-120"/>
              </a:rPr>
              <a:t>IT team</a:t>
            </a:r>
            <a:endParaRPr lang="en-US" sz="1100" dirty="0"/>
          </a:p>
        </p:txBody>
      </p:sp>
      <p:sp>
        <p:nvSpPr>
          <p:cNvPr id="28" name="Text 25"/>
          <p:cNvSpPr/>
          <p:nvPr/>
        </p:nvSpPr>
        <p:spPr>
          <a:xfrm>
            <a:off x="4114800" y="5166360"/>
            <a:ext cx="7315200" cy="777240"/>
          </a:xfrm>
          <a:prstGeom prst="rect">
            <a:avLst/>
          </a:prstGeom>
          <a:noFill/>
          <a:ln/>
        </p:spPr>
        <p:txBody>
          <a:bodyPr wrap="square" rtlCol="0" anchor="ctr"/>
          <a:lstStyle/>
          <a:p>
            <a:pPr indent="0" marL="0">
              <a:lnSpc>
                <a:spcPct val="125000"/>
              </a:lnSpc>
              <a:buNone/>
            </a:pPr>
            <a:r>
              <a:rPr lang="en-US" sz="1200" dirty="0">
                <a:solidFill>
                  <a:srgbClr val="E8EDF3"/>
                </a:solidFill>
                <a:latin typeface="Calibri" pitchFamily="34" charset="0"/>
                <a:ea typeface="Calibri" pitchFamily="34" charset="-122"/>
                <a:cs typeface="Calibri" pitchFamily="34" charset="-120"/>
              </a:rPr>
              <a:t>API integrations, custom chatbots, workflow automation, security &amp; compliance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1E2637"/>
                </a:solidFill>
                <a:latin typeface="Calibri" pitchFamily="34" charset="0"/>
                <a:ea typeface="Calibri" pitchFamily="34" charset="-122"/>
                <a:cs typeface="Calibri" pitchFamily="34" charset="-120"/>
              </a:rPr>
              <a:t>Investment Options</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718096"/>
                </a:solidFill>
                <a:latin typeface="Calibri" pitchFamily="34" charset="0"/>
                <a:ea typeface="Calibri" pitchFamily="34" charset="-122"/>
                <a:cs typeface="Calibri" pitchFamily="34" charset="-120"/>
              </a:rPr>
              <a:t>Flexible tiers designed for every organization size</a:t>
            </a:r>
            <a:endParaRPr lang="en-US" sz="1600" dirty="0"/>
          </a:p>
        </p:txBody>
      </p:sp>
      <p:sp>
        <p:nvSpPr>
          <p:cNvPr id="5" name="Shape 2"/>
          <p:cNvSpPr/>
          <p:nvPr/>
        </p:nvSpPr>
        <p:spPr>
          <a:xfrm>
            <a:off x="457200" y="1645920"/>
            <a:ext cx="3566160" cy="4206240"/>
          </a:xfrm>
          <a:prstGeom prst="roundRect">
            <a:avLst>
              <a:gd name="adj" fmla="val 2564"/>
            </a:avLst>
          </a:prstGeom>
          <a:solidFill>
            <a:srgbClr val="FFFFFF"/>
          </a:solidFill>
          <a:ln/>
          <a:effectLst>
            <a:outerShdw sx="100000" sy="100000" kx="0" ky="0" algn="bl" rotWithShape="0" blurRad="101600" dist="25400" dir="16200000">
              <a:srgbClr val="000000">
                <a:alpha val="15000"/>
              </a:srgbClr>
            </a:outerShdw>
          </a:effectLst>
        </p:spPr>
      </p:sp>
      <p:sp>
        <p:nvSpPr>
          <p:cNvPr id="6" name="Shape 3"/>
          <p:cNvSpPr/>
          <p:nvPr/>
        </p:nvSpPr>
        <p:spPr>
          <a:xfrm>
            <a:off x="594360" y="1691640"/>
            <a:ext cx="3291840" cy="73152"/>
          </a:xfrm>
          <a:prstGeom prst="rect">
            <a:avLst/>
          </a:prstGeom>
          <a:solidFill>
            <a:srgbClr val="1A8F6E"/>
          </a:solidFill>
          <a:ln/>
        </p:spPr>
      </p:sp>
      <p:sp>
        <p:nvSpPr>
          <p:cNvPr id="7" name="Text 4"/>
          <p:cNvSpPr/>
          <p:nvPr/>
        </p:nvSpPr>
        <p:spPr>
          <a:xfrm>
            <a:off x="640080" y="1874520"/>
            <a:ext cx="3200400" cy="457200"/>
          </a:xfrm>
          <a:prstGeom prst="rect">
            <a:avLst/>
          </a:prstGeom>
          <a:noFill/>
          <a:ln/>
        </p:spPr>
        <p:txBody>
          <a:bodyPr wrap="square" rtlCol="0" anchor="ctr"/>
          <a:lstStyle/>
          <a:p>
            <a:pPr algn="ctr" indent="0" marL="0">
              <a:buNone/>
            </a:pPr>
            <a:r>
              <a:rPr lang="en-US" sz="2200" b="1" dirty="0">
                <a:solidFill>
                  <a:srgbClr val="1E2637"/>
                </a:solidFill>
                <a:latin typeface="Calibri" pitchFamily="34" charset="0"/>
                <a:ea typeface="Calibri" pitchFamily="34" charset="-122"/>
                <a:cs typeface="Calibri" pitchFamily="34" charset="-120"/>
              </a:rPr>
              <a:t>Jumpstart</a:t>
            </a:r>
            <a:endParaRPr lang="en-US" sz="2200" dirty="0"/>
          </a:p>
        </p:txBody>
      </p:sp>
      <p:sp>
        <p:nvSpPr>
          <p:cNvPr id="8" name="Text 5"/>
          <p:cNvSpPr/>
          <p:nvPr/>
        </p:nvSpPr>
        <p:spPr>
          <a:xfrm>
            <a:off x="640080" y="2331720"/>
            <a:ext cx="3200400" cy="320040"/>
          </a:xfrm>
          <a:prstGeom prst="rect">
            <a:avLst/>
          </a:prstGeom>
          <a:noFill/>
          <a:ln/>
        </p:spPr>
        <p:txBody>
          <a:bodyPr wrap="square"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SMEs (5-50 staff)</a:t>
            </a:r>
            <a:endParaRPr lang="en-US" sz="1100" dirty="0"/>
          </a:p>
        </p:txBody>
      </p:sp>
      <p:sp>
        <p:nvSpPr>
          <p:cNvPr id="9" name="Text 6"/>
          <p:cNvSpPr/>
          <p:nvPr/>
        </p:nvSpPr>
        <p:spPr>
          <a:xfrm>
            <a:off x="640080" y="2697480"/>
            <a:ext cx="3200400" cy="411480"/>
          </a:xfrm>
          <a:prstGeom prst="rect">
            <a:avLst/>
          </a:prstGeom>
          <a:noFill/>
          <a:ln/>
        </p:spPr>
        <p:txBody>
          <a:bodyPr wrap="square" rtlCol="0" anchor="ctr"/>
          <a:lstStyle/>
          <a:p>
            <a:pPr algn="ctr" indent="0" marL="0">
              <a:buNone/>
            </a:pPr>
            <a:r>
              <a:rPr lang="en-US" sz="2000" b="1" dirty="0">
                <a:solidFill>
                  <a:srgbClr val="1A8F6E"/>
                </a:solidFill>
                <a:latin typeface="Calibri" pitchFamily="34" charset="0"/>
                <a:ea typeface="Calibri" pitchFamily="34" charset="-122"/>
                <a:cs typeface="Calibri" pitchFamily="34" charset="-120"/>
              </a:rPr>
              <a:t>TZS 2M – 5M</a:t>
            </a:r>
            <a:endParaRPr lang="en-US" sz="2000" dirty="0"/>
          </a:p>
        </p:txBody>
      </p:sp>
      <p:sp>
        <p:nvSpPr>
          <p:cNvPr id="10" name="Text 7"/>
          <p:cNvSpPr/>
          <p:nvPr/>
        </p:nvSpPr>
        <p:spPr>
          <a:xfrm>
            <a:off x="640080" y="3108960"/>
            <a:ext cx="3200400" cy="274320"/>
          </a:xfrm>
          <a:prstGeom prst="rect">
            <a:avLst/>
          </a:prstGeom>
          <a:noFill/>
          <a:ln/>
        </p:spPr>
        <p:txBody>
          <a:bodyPr wrap="square"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2-3 days</a:t>
            </a:r>
            <a:endParaRPr lang="en-US" sz="1000" dirty="0"/>
          </a:p>
        </p:txBody>
      </p:sp>
      <p:sp>
        <p:nvSpPr>
          <p:cNvPr id="11" name="Shape 8"/>
          <p:cNvSpPr/>
          <p:nvPr/>
        </p:nvSpPr>
        <p:spPr>
          <a:xfrm>
            <a:off x="1005840" y="3474720"/>
            <a:ext cx="2468880" cy="18288"/>
          </a:xfrm>
          <a:prstGeom prst="rect">
            <a:avLst/>
          </a:prstGeom>
          <a:solidFill>
            <a:srgbClr val="E8EDF3"/>
          </a:solidFill>
          <a:ln/>
        </p:spPr>
      </p:sp>
      <p:sp>
        <p:nvSpPr>
          <p:cNvPr id="12" name="Text 9"/>
          <p:cNvSpPr/>
          <p:nvPr/>
        </p:nvSpPr>
        <p:spPr>
          <a:xfrm>
            <a:off x="822960" y="361188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Half-day discovery session</a:t>
            </a:r>
            <a:endParaRPr lang="en-US" sz="1100" dirty="0"/>
          </a:p>
        </p:txBody>
      </p:sp>
      <p:sp>
        <p:nvSpPr>
          <p:cNvPr id="13" name="Text 10"/>
          <p:cNvSpPr/>
          <p:nvPr/>
        </p:nvSpPr>
        <p:spPr>
          <a:xfrm>
            <a:off x="822960" y="397764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Top 3-5 AI tool recommendations</a:t>
            </a:r>
            <a:endParaRPr lang="en-US" sz="1100" dirty="0"/>
          </a:p>
        </p:txBody>
      </p:sp>
      <p:sp>
        <p:nvSpPr>
          <p:cNvPr id="14" name="Text 11"/>
          <p:cNvSpPr/>
          <p:nvPr/>
        </p:nvSpPr>
        <p:spPr>
          <a:xfrm>
            <a:off x="822960" y="434340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1-2 day staff workshop</a:t>
            </a:r>
            <a:endParaRPr lang="en-US" sz="1100" dirty="0"/>
          </a:p>
        </p:txBody>
      </p:sp>
      <p:sp>
        <p:nvSpPr>
          <p:cNvPr id="15" name="Text 12"/>
          <p:cNvSpPr/>
          <p:nvPr/>
        </p:nvSpPr>
        <p:spPr>
          <a:xfrm>
            <a:off x="822960" y="470916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Practical playbook</a:t>
            </a:r>
            <a:endParaRPr lang="en-US" sz="1100" dirty="0"/>
          </a:p>
        </p:txBody>
      </p:sp>
      <p:sp>
        <p:nvSpPr>
          <p:cNvPr id="16" name="Text 13"/>
          <p:cNvSpPr/>
          <p:nvPr/>
        </p:nvSpPr>
        <p:spPr>
          <a:xfrm>
            <a:off x="822960" y="507492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30-day email support</a:t>
            </a:r>
            <a:endParaRPr lang="en-US" sz="1100" dirty="0"/>
          </a:p>
        </p:txBody>
      </p:sp>
      <p:sp>
        <p:nvSpPr>
          <p:cNvPr id="17" name="Shape 14"/>
          <p:cNvSpPr/>
          <p:nvPr/>
        </p:nvSpPr>
        <p:spPr>
          <a:xfrm>
            <a:off x="4297680" y="1463040"/>
            <a:ext cx="3566160" cy="4572000"/>
          </a:xfrm>
          <a:prstGeom prst="roundRect">
            <a:avLst>
              <a:gd name="adj" fmla="val 2564"/>
            </a:avLst>
          </a:prstGeom>
          <a:solidFill>
            <a:srgbClr val="FFFFFF"/>
          </a:solidFill>
          <a:ln/>
          <a:effectLst>
            <a:outerShdw sx="100000" sy="100000" kx="0" ky="0" algn="bl" rotWithShape="0" blurRad="101600" dist="25400" dir="16200000">
              <a:srgbClr val="000000">
                <a:alpha val="15000"/>
              </a:srgbClr>
            </a:outerShdw>
          </a:effectLst>
        </p:spPr>
      </p:sp>
      <p:sp>
        <p:nvSpPr>
          <p:cNvPr id="18" name="Shape 15"/>
          <p:cNvSpPr/>
          <p:nvPr/>
        </p:nvSpPr>
        <p:spPr>
          <a:xfrm>
            <a:off x="4434840" y="1508760"/>
            <a:ext cx="3291840" cy="73152"/>
          </a:xfrm>
          <a:prstGeom prst="rect">
            <a:avLst/>
          </a:prstGeom>
          <a:solidFill>
            <a:srgbClr val="3B82F6"/>
          </a:solidFill>
          <a:ln/>
        </p:spPr>
      </p:sp>
      <p:sp>
        <p:nvSpPr>
          <p:cNvPr id="19" name="Shape 16"/>
          <p:cNvSpPr/>
          <p:nvPr/>
        </p:nvSpPr>
        <p:spPr>
          <a:xfrm>
            <a:off x="5212080" y="1234440"/>
            <a:ext cx="1737360" cy="320040"/>
          </a:xfrm>
          <a:prstGeom prst="roundRect">
            <a:avLst>
              <a:gd name="adj" fmla="val 14286"/>
            </a:avLst>
          </a:prstGeom>
          <a:solidFill>
            <a:srgbClr val="3B82F6"/>
          </a:solidFill>
          <a:ln/>
        </p:spPr>
      </p:sp>
      <p:sp>
        <p:nvSpPr>
          <p:cNvPr id="20" name="Text 17"/>
          <p:cNvSpPr/>
          <p:nvPr/>
        </p:nvSpPr>
        <p:spPr>
          <a:xfrm>
            <a:off x="5212080" y="1234440"/>
            <a:ext cx="173736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MOST POPULAR</a:t>
            </a:r>
            <a:endParaRPr lang="en-US" sz="900" dirty="0"/>
          </a:p>
        </p:txBody>
      </p:sp>
      <p:sp>
        <p:nvSpPr>
          <p:cNvPr id="21" name="Text 18"/>
          <p:cNvSpPr/>
          <p:nvPr/>
        </p:nvSpPr>
        <p:spPr>
          <a:xfrm>
            <a:off x="4480560" y="1691640"/>
            <a:ext cx="3200400" cy="457200"/>
          </a:xfrm>
          <a:prstGeom prst="rect">
            <a:avLst/>
          </a:prstGeom>
          <a:noFill/>
          <a:ln/>
        </p:spPr>
        <p:txBody>
          <a:bodyPr wrap="square" rtlCol="0" anchor="ctr"/>
          <a:lstStyle/>
          <a:p>
            <a:pPr algn="ctr" indent="0" marL="0">
              <a:buNone/>
            </a:pPr>
            <a:r>
              <a:rPr lang="en-US" sz="2200" b="1" dirty="0">
                <a:solidFill>
                  <a:srgbClr val="1E2637"/>
                </a:solidFill>
                <a:latin typeface="Calibri" pitchFamily="34" charset="0"/>
                <a:ea typeface="Calibri" pitchFamily="34" charset="-122"/>
                <a:cs typeface="Calibri" pitchFamily="34" charset="-120"/>
              </a:rPr>
              <a:t>Transform</a:t>
            </a:r>
            <a:endParaRPr lang="en-US" sz="2200" dirty="0"/>
          </a:p>
        </p:txBody>
      </p:sp>
      <p:sp>
        <p:nvSpPr>
          <p:cNvPr id="22" name="Text 19"/>
          <p:cNvSpPr/>
          <p:nvPr/>
        </p:nvSpPr>
        <p:spPr>
          <a:xfrm>
            <a:off x="4480560" y="2148840"/>
            <a:ext cx="3200400" cy="320040"/>
          </a:xfrm>
          <a:prstGeom prst="rect">
            <a:avLst/>
          </a:prstGeom>
          <a:noFill/>
          <a:ln/>
        </p:spPr>
        <p:txBody>
          <a:bodyPr wrap="square"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Mid-size (50-500 staff)</a:t>
            </a:r>
            <a:endParaRPr lang="en-US" sz="1100" dirty="0"/>
          </a:p>
        </p:txBody>
      </p:sp>
      <p:sp>
        <p:nvSpPr>
          <p:cNvPr id="23" name="Text 20"/>
          <p:cNvSpPr/>
          <p:nvPr/>
        </p:nvSpPr>
        <p:spPr>
          <a:xfrm>
            <a:off x="4480560" y="2514600"/>
            <a:ext cx="3200400" cy="411480"/>
          </a:xfrm>
          <a:prstGeom prst="rect">
            <a:avLst/>
          </a:prstGeom>
          <a:noFill/>
          <a:ln/>
        </p:spPr>
        <p:txBody>
          <a:bodyPr wrap="square" rtlCol="0" anchor="ctr"/>
          <a:lstStyle/>
          <a:p>
            <a:pPr algn="ctr" indent="0" marL="0">
              <a:buNone/>
            </a:pPr>
            <a:r>
              <a:rPr lang="en-US" sz="2000" b="1" dirty="0">
                <a:solidFill>
                  <a:srgbClr val="3B82F6"/>
                </a:solidFill>
                <a:latin typeface="Calibri" pitchFamily="34" charset="0"/>
                <a:ea typeface="Calibri" pitchFamily="34" charset="-122"/>
                <a:cs typeface="Calibri" pitchFamily="34" charset="-120"/>
              </a:rPr>
              <a:t>TZS 10M – 25M</a:t>
            </a:r>
            <a:endParaRPr lang="en-US" sz="2000" dirty="0"/>
          </a:p>
        </p:txBody>
      </p:sp>
      <p:sp>
        <p:nvSpPr>
          <p:cNvPr id="24" name="Text 21"/>
          <p:cNvSpPr/>
          <p:nvPr/>
        </p:nvSpPr>
        <p:spPr>
          <a:xfrm>
            <a:off x="4480560" y="2926080"/>
            <a:ext cx="3200400" cy="274320"/>
          </a:xfrm>
          <a:prstGeom prst="rect">
            <a:avLst/>
          </a:prstGeom>
          <a:noFill/>
          <a:ln/>
        </p:spPr>
        <p:txBody>
          <a:bodyPr wrap="square"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2-4 weeks</a:t>
            </a:r>
            <a:endParaRPr lang="en-US" sz="1000" dirty="0"/>
          </a:p>
        </p:txBody>
      </p:sp>
      <p:sp>
        <p:nvSpPr>
          <p:cNvPr id="25" name="Shape 22"/>
          <p:cNvSpPr/>
          <p:nvPr/>
        </p:nvSpPr>
        <p:spPr>
          <a:xfrm>
            <a:off x="4846320" y="3291840"/>
            <a:ext cx="2468880" cy="18288"/>
          </a:xfrm>
          <a:prstGeom prst="rect">
            <a:avLst/>
          </a:prstGeom>
          <a:solidFill>
            <a:srgbClr val="E8EDF3"/>
          </a:solidFill>
          <a:ln/>
        </p:spPr>
      </p:sp>
      <p:sp>
        <p:nvSpPr>
          <p:cNvPr id="26" name="Text 23"/>
          <p:cNvSpPr/>
          <p:nvPr/>
        </p:nvSpPr>
        <p:spPr>
          <a:xfrm>
            <a:off x="4663440" y="342900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Full operational audit</a:t>
            </a:r>
            <a:endParaRPr lang="en-US" sz="1100" dirty="0"/>
          </a:p>
        </p:txBody>
      </p:sp>
      <p:sp>
        <p:nvSpPr>
          <p:cNvPr id="27" name="Text 24"/>
          <p:cNvSpPr/>
          <p:nvPr/>
        </p:nvSpPr>
        <p:spPr>
          <a:xfrm>
            <a:off x="4663440" y="379476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Department AI mapping</a:t>
            </a:r>
            <a:endParaRPr lang="en-US" sz="1100" dirty="0"/>
          </a:p>
        </p:txBody>
      </p:sp>
      <p:sp>
        <p:nvSpPr>
          <p:cNvPr id="28" name="Text 25"/>
          <p:cNvSpPr/>
          <p:nvPr/>
        </p:nvSpPr>
        <p:spPr>
          <a:xfrm>
            <a:off x="4663440" y="416052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Tool setup &amp; configuration</a:t>
            </a:r>
            <a:endParaRPr lang="en-US" sz="1100" dirty="0"/>
          </a:p>
        </p:txBody>
      </p:sp>
      <p:sp>
        <p:nvSpPr>
          <p:cNvPr id="29" name="Text 26"/>
          <p:cNvSpPr/>
          <p:nvPr/>
        </p:nvSpPr>
        <p:spPr>
          <a:xfrm>
            <a:off x="4663440" y="452628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Role-specific training</a:t>
            </a:r>
            <a:endParaRPr lang="en-US" sz="1100" dirty="0"/>
          </a:p>
        </p:txBody>
      </p:sp>
      <p:sp>
        <p:nvSpPr>
          <p:cNvPr id="30" name="Text 27"/>
          <p:cNvSpPr/>
          <p:nvPr/>
        </p:nvSpPr>
        <p:spPr>
          <a:xfrm>
            <a:off x="4663440" y="489204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2 custom automations</a:t>
            </a:r>
            <a:endParaRPr lang="en-US" sz="1100" dirty="0"/>
          </a:p>
        </p:txBody>
      </p:sp>
      <p:sp>
        <p:nvSpPr>
          <p:cNvPr id="31" name="Text 28"/>
          <p:cNvSpPr/>
          <p:nvPr/>
        </p:nvSpPr>
        <p:spPr>
          <a:xfrm>
            <a:off x="4663440" y="525780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60-day support</a:t>
            </a:r>
            <a:endParaRPr lang="en-US" sz="1100" dirty="0"/>
          </a:p>
        </p:txBody>
      </p:sp>
      <p:sp>
        <p:nvSpPr>
          <p:cNvPr id="32" name="Shape 29"/>
          <p:cNvSpPr/>
          <p:nvPr/>
        </p:nvSpPr>
        <p:spPr>
          <a:xfrm>
            <a:off x="8138160" y="1645920"/>
            <a:ext cx="3566160" cy="4206240"/>
          </a:xfrm>
          <a:prstGeom prst="roundRect">
            <a:avLst>
              <a:gd name="adj" fmla="val 2564"/>
            </a:avLst>
          </a:prstGeom>
          <a:solidFill>
            <a:srgbClr val="FFFFFF"/>
          </a:solidFill>
          <a:ln/>
          <a:effectLst>
            <a:outerShdw sx="100000" sy="100000" kx="0" ky="0" algn="bl" rotWithShape="0" blurRad="101600" dist="25400" dir="16200000">
              <a:srgbClr val="000000">
                <a:alpha val="15000"/>
              </a:srgbClr>
            </a:outerShdw>
          </a:effectLst>
        </p:spPr>
      </p:sp>
      <p:sp>
        <p:nvSpPr>
          <p:cNvPr id="33" name="Shape 30"/>
          <p:cNvSpPr/>
          <p:nvPr/>
        </p:nvSpPr>
        <p:spPr>
          <a:xfrm>
            <a:off x="8275320" y="1691640"/>
            <a:ext cx="3291840" cy="73152"/>
          </a:xfrm>
          <a:prstGeom prst="rect">
            <a:avLst/>
          </a:prstGeom>
          <a:solidFill>
            <a:srgbClr val="F5A623"/>
          </a:solidFill>
          <a:ln/>
        </p:spPr>
      </p:sp>
      <p:sp>
        <p:nvSpPr>
          <p:cNvPr id="34" name="Text 31"/>
          <p:cNvSpPr/>
          <p:nvPr/>
        </p:nvSpPr>
        <p:spPr>
          <a:xfrm>
            <a:off x="8321040" y="1874520"/>
            <a:ext cx="3200400" cy="457200"/>
          </a:xfrm>
          <a:prstGeom prst="rect">
            <a:avLst/>
          </a:prstGeom>
          <a:noFill/>
          <a:ln/>
        </p:spPr>
        <p:txBody>
          <a:bodyPr wrap="square" rtlCol="0" anchor="ctr"/>
          <a:lstStyle/>
          <a:p>
            <a:pPr algn="ctr" indent="0" marL="0">
              <a:buNone/>
            </a:pPr>
            <a:r>
              <a:rPr lang="en-US" sz="2200" b="1" dirty="0">
                <a:solidFill>
                  <a:srgbClr val="1E2637"/>
                </a:solidFill>
                <a:latin typeface="Calibri" pitchFamily="34" charset="0"/>
                <a:ea typeface="Calibri" pitchFamily="34" charset="-122"/>
                <a:cs typeface="Calibri" pitchFamily="34" charset="-120"/>
              </a:rPr>
              <a:t>Enterprise</a:t>
            </a:r>
            <a:endParaRPr lang="en-US" sz="2200" dirty="0"/>
          </a:p>
        </p:txBody>
      </p:sp>
      <p:sp>
        <p:nvSpPr>
          <p:cNvPr id="35" name="Text 32"/>
          <p:cNvSpPr/>
          <p:nvPr/>
        </p:nvSpPr>
        <p:spPr>
          <a:xfrm>
            <a:off x="8321040" y="2331720"/>
            <a:ext cx="3200400" cy="320040"/>
          </a:xfrm>
          <a:prstGeom prst="rect">
            <a:avLst/>
          </a:prstGeom>
          <a:noFill/>
          <a:ln/>
        </p:spPr>
        <p:txBody>
          <a:bodyPr wrap="square"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Large (500+ staff)</a:t>
            </a:r>
            <a:endParaRPr lang="en-US" sz="1100" dirty="0"/>
          </a:p>
        </p:txBody>
      </p:sp>
      <p:sp>
        <p:nvSpPr>
          <p:cNvPr id="36" name="Text 33"/>
          <p:cNvSpPr/>
          <p:nvPr/>
        </p:nvSpPr>
        <p:spPr>
          <a:xfrm>
            <a:off x="8321040" y="2697480"/>
            <a:ext cx="3200400" cy="411480"/>
          </a:xfrm>
          <a:prstGeom prst="rect">
            <a:avLst/>
          </a:prstGeom>
          <a:noFill/>
          <a:ln/>
        </p:spPr>
        <p:txBody>
          <a:bodyPr wrap="square" rtlCol="0" anchor="ctr"/>
          <a:lstStyle/>
          <a:p>
            <a:pPr algn="ctr" indent="0" marL="0">
              <a:buNone/>
            </a:pPr>
            <a:r>
              <a:rPr lang="en-US" sz="2000" b="1" dirty="0">
                <a:solidFill>
                  <a:srgbClr val="F5A623"/>
                </a:solidFill>
                <a:latin typeface="Calibri" pitchFamily="34" charset="0"/>
                <a:ea typeface="Calibri" pitchFamily="34" charset="-122"/>
                <a:cs typeface="Calibri" pitchFamily="34" charset="-120"/>
              </a:rPr>
              <a:t>TZS 50M+</a:t>
            </a:r>
            <a:endParaRPr lang="en-US" sz="2000" dirty="0"/>
          </a:p>
        </p:txBody>
      </p:sp>
      <p:sp>
        <p:nvSpPr>
          <p:cNvPr id="37" name="Text 34"/>
          <p:cNvSpPr/>
          <p:nvPr/>
        </p:nvSpPr>
        <p:spPr>
          <a:xfrm>
            <a:off x="8321040" y="3108960"/>
            <a:ext cx="3200400" cy="274320"/>
          </a:xfrm>
          <a:prstGeom prst="rect">
            <a:avLst/>
          </a:prstGeom>
          <a:noFill/>
          <a:ln/>
        </p:spPr>
        <p:txBody>
          <a:bodyPr wrap="square"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2-6 months</a:t>
            </a:r>
            <a:endParaRPr lang="en-US" sz="1000" dirty="0"/>
          </a:p>
        </p:txBody>
      </p:sp>
      <p:sp>
        <p:nvSpPr>
          <p:cNvPr id="38" name="Shape 35"/>
          <p:cNvSpPr/>
          <p:nvPr/>
        </p:nvSpPr>
        <p:spPr>
          <a:xfrm>
            <a:off x="8686800" y="3474720"/>
            <a:ext cx="2468880" cy="18288"/>
          </a:xfrm>
          <a:prstGeom prst="rect">
            <a:avLst/>
          </a:prstGeom>
          <a:solidFill>
            <a:srgbClr val="E8EDF3"/>
          </a:solidFill>
          <a:ln/>
        </p:spPr>
      </p:sp>
      <p:sp>
        <p:nvSpPr>
          <p:cNvPr id="39" name="Text 36"/>
          <p:cNvSpPr/>
          <p:nvPr/>
        </p:nvSpPr>
        <p:spPr>
          <a:xfrm>
            <a:off x="8503920" y="361188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Comprehensive transformation</a:t>
            </a:r>
            <a:endParaRPr lang="en-US" sz="1100" dirty="0"/>
          </a:p>
        </p:txBody>
      </p:sp>
      <p:sp>
        <p:nvSpPr>
          <p:cNvPr id="40" name="Text 37"/>
          <p:cNvSpPr/>
          <p:nvPr/>
        </p:nvSpPr>
        <p:spPr>
          <a:xfrm>
            <a:off x="8503920" y="397764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Executive AI briefings</a:t>
            </a:r>
            <a:endParaRPr lang="en-US" sz="1100" dirty="0"/>
          </a:p>
        </p:txBody>
      </p:sp>
      <p:sp>
        <p:nvSpPr>
          <p:cNvPr id="41" name="Text 38"/>
          <p:cNvSpPr/>
          <p:nvPr/>
        </p:nvSpPr>
        <p:spPr>
          <a:xfrm>
            <a:off x="8503920" y="434340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Phased department rollout</a:t>
            </a:r>
            <a:endParaRPr lang="en-US" sz="1100" dirty="0"/>
          </a:p>
        </p:txBody>
      </p:sp>
      <p:sp>
        <p:nvSpPr>
          <p:cNvPr id="42" name="Text 39"/>
          <p:cNvSpPr/>
          <p:nvPr/>
        </p:nvSpPr>
        <p:spPr>
          <a:xfrm>
            <a:off x="8503920" y="470916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Custom integrations</a:t>
            </a:r>
            <a:endParaRPr lang="en-US" sz="1100" dirty="0"/>
          </a:p>
        </p:txBody>
      </p:sp>
      <p:sp>
        <p:nvSpPr>
          <p:cNvPr id="43" name="Text 40"/>
          <p:cNvSpPr/>
          <p:nvPr/>
        </p:nvSpPr>
        <p:spPr>
          <a:xfrm>
            <a:off x="8503920" y="507492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Change management</a:t>
            </a:r>
            <a:endParaRPr lang="en-US" sz="1100" dirty="0"/>
          </a:p>
        </p:txBody>
      </p:sp>
      <p:sp>
        <p:nvSpPr>
          <p:cNvPr id="44" name="Text 41"/>
          <p:cNvSpPr/>
          <p:nvPr/>
        </p:nvSpPr>
        <p:spPr>
          <a:xfrm>
            <a:off x="8503920" y="5440680"/>
            <a:ext cx="2926080" cy="320040"/>
          </a:xfrm>
          <a:prstGeom prst="rect">
            <a:avLst/>
          </a:prstGeom>
          <a:noFill/>
          <a:ln/>
        </p:spPr>
        <p:txBody>
          <a:bodyPr wrap="square" rtlCol="0" anchor="ctr"/>
          <a:lstStyle/>
          <a:p>
            <a:pPr indent="0" marL="0">
              <a:buNone/>
            </a:pPr>
            <a:r>
              <a:rPr lang="en-US" sz="1100" dirty="0">
                <a:solidFill>
                  <a:srgbClr val="2D3748"/>
                </a:solidFill>
                <a:latin typeface="Calibri" pitchFamily="34" charset="0"/>
                <a:ea typeface="Calibri" pitchFamily="34" charset="-122"/>
                <a:cs typeface="Calibri" pitchFamily="34" charset="-120"/>
              </a:rPr>
              <a:t>✓  6-month retainer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Return on Investment</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E8EDF3"/>
                </a:solidFill>
                <a:latin typeface="Calibri" pitchFamily="34" charset="0"/>
                <a:ea typeface="Calibri" pitchFamily="34" charset="-122"/>
                <a:cs typeface="Calibri" pitchFamily="34" charset="-120"/>
              </a:rPr>
              <a:t>Your investment pays for itself within the first quarter</a:t>
            </a:r>
            <a:endParaRPr lang="en-US" sz="1600" dirty="0"/>
          </a:p>
        </p:txBody>
      </p:sp>
      <p:sp>
        <p:nvSpPr>
          <p:cNvPr id="5" name="Shape 2"/>
          <p:cNvSpPr/>
          <p:nvPr/>
        </p:nvSpPr>
        <p:spPr>
          <a:xfrm>
            <a:off x="457200" y="1737360"/>
            <a:ext cx="2697480" cy="2286000"/>
          </a:xfrm>
          <a:prstGeom prst="roundRect">
            <a:avLst>
              <a:gd name="adj" fmla="val 4000"/>
            </a:avLst>
          </a:prstGeom>
          <a:solidFill>
            <a:srgbClr val="141C2B"/>
          </a:solidFill>
          <a:ln/>
        </p:spPr>
      </p:sp>
      <p:sp>
        <p:nvSpPr>
          <p:cNvPr id="6" name="Text 3"/>
          <p:cNvSpPr/>
          <p:nvPr/>
        </p:nvSpPr>
        <p:spPr>
          <a:xfrm>
            <a:off x="457200" y="1920240"/>
            <a:ext cx="2697480" cy="822960"/>
          </a:xfrm>
          <a:prstGeom prst="rect">
            <a:avLst/>
          </a:prstGeom>
          <a:noFill/>
          <a:ln/>
        </p:spPr>
        <p:txBody>
          <a:bodyPr wrap="square" rtlCol="0" anchor="ctr"/>
          <a:lstStyle/>
          <a:p>
            <a:pPr algn="ctr" indent="0" marL="0">
              <a:buNone/>
            </a:pPr>
            <a:r>
              <a:rPr lang="en-US" sz="3600" b="1" dirty="0">
                <a:solidFill>
                  <a:srgbClr val="1A8F6E"/>
                </a:solidFill>
                <a:latin typeface="Calibri" pitchFamily="34" charset="0"/>
                <a:ea typeface="Calibri" pitchFamily="34" charset="-122"/>
                <a:cs typeface="Calibri" pitchFamily="34" charset="-120"/>
              </a:rPr>
              <a:t>15+ hours</a:t>
            </a:r>
            <a:endParaRPr lang="en-US" sz="3600" dirty="0"/>
          </a:p>
        </p:txBody>
      </p:sp>
      <p:sp>
        <p:nvSpPr>
          <p:cNvPr id="7" name="Text 4"/>
          <p:cNvSpPr/>
          <p:nvPr/>
        </p:nvSpPr>
        <p:spPr>
          <a:xfrm>
            <a:off x="640080" y="2743200"/>
            <a:ext cx="2331720" cy="822960"/>
          </a:xfrm>
          <a:prstGeom prst="rect">
            <a:avLst/>
          </a:prstGeom>
          <a:noFill/>
          <a:ln/>
        </p:spPr>
        <p:txBody>
          <a:bodyPr wrap="square" rtlCol="0" anchor="ctr"/>
          <a:lstStyle/>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Average time saved</a:t>
            </a:r>
            <a:endParaRPr lang="en-US" sz="1200" dirty="0"/>
          </a:p>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per department weekly</a:t>
            </a:r>
            <a:endParaRPr lang="en-US" sz="1200" dirty="0"/>
          </a:p>
        </p:txBody>
      </p:sp>
      <p:sp>
        <p:nvSpPr>
          <p:cNvPr id="8" name="Shape 5"/>
          <p:cNvSpPr/>
          <p:nvPr/>
        </p:nvSpPr>
        <p:spPr>
          <a:xfrm>
            <a:off x="3337560" y="1737360"/>
            <a:ext cx="2697480" cy="2286000"/>
          </a:xfrm>
          <a:prstGeom prst="roundRect">
            <a:avLst>
              <a:gd name="adj" fmla="val 4000"/>
            </a:avLst>
          </a:prstGeom>
          <a:solidFill>
            <a:srgbClr val="141C2B"/>
          </a:solidFill>
          <a:ln/>
        </p:spPr>
      </p:sp>
      <p:sp>
        <p:nvSpPr>
          <p:cNvPr id="9" name="Text 6"/>
          <p:cNvSpPr/>
          <p:nvPr/>
        </p:nvSpPr>
        <p:spPr>
          <a:xfrm>
            <a:off x="3337560" y="1920240"/>
            <a:ext cx="2697480" cy="822960"/>
          </a:xfrm>
          <a:prstGeom prst="rect">
            <a:avLst/>
          </a:prstGeom>
          <a:noFill/>
          <a:ln/>
        </p:spPr>
        <p:txBody>
          <a:bodyPr wrap="square" rtlCol="0" anchor="ctr"/>
          <a:lstStyle/>
          <a:p>
            <a:pPr algn="ctr" indent="0" marL="0">
              <a:buNone/>
            </a:pPr>
            <a:r>
              <a:rPr lang="en-US" sz="3600" b="1" dirty="0">
                <a:solidFill>
                  <a:srgbClr val="3B82F6"/>
                </a:solidFill>
                <a:latin typeface="Calibri" pitchFamily="34" charset="0"/>
                <a:ea typeface="Calibri" pitchFamily="34" charset="-122"/>
                <a:cs typeface="Calibri" pitchFamily="34" charset="-120"/>
              </a:rPr>
              <a:t>25-40%</a:t>
            </a:r>
            <a:endParaRPr lang="en-US" sz="3600" dirty="0"/>
          </a:p>
        </p:txBody>
      </p:sp>
      <p:sp>
        <p:nvSpPr>
          <p:cNvPr id="10" name="Text 7"/>
          <p:cNvSpPr/>
          <p:nvPr/>
        </p:nvSpPr>
        <p:spPr>
          <a:xfrm>
            <a:off x="3520440" y="2743200"/>
            <a:ext cx="2331720" cy="822960"/>
          </a:xfrm>
          <a:prstGeom prst="rect">
            <a:avLst/>
          </a:prstGeom>
          <a:noFill/>
          <a:ln/>
        </p:spPr>
        <p:txBody>
          <a:bodyPr wrap="square" rtlCol="0" anchor="ctr"/>
          <a:lstStyle/>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Typical cost reduction</a:t>
            </a:r>
            <a:endParaRPr lang="en-US" sz="1200" dirty="0"/>
          </a:p>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in first 6 months</a:t>
            </a:r>
            <a:endParaRPr lang="en-US" sz="1200" dirty="0"/>
          </a:p>
        </p:txBody>
      </p:sp>
      <p:sp>
        <p:nvSpPr>
          <p:cNvPr id="11" name="Shape 8"/>
          <p:cNvSpPr/>
          <p:nvPr/>
        </p:nvSpPr>
        <p:spPr>
          <a:xfrm>
            <a:off x="6217920" y="1737360"/>
            <a:ext cx="2697480" cy="2286000"/>
          </a:xfrm>
          <a:prstGeom prst="roundRect">
            <a:avLst>
              <a:gd name="adj" fmla="val 4000"/>
            </a:avLst>
          </a:prstGeom>
          <a:solidFill>
            <a:srgbClr val="141C2B"/>
          </a:solidFill>
          <a:ln/>
        </p:spPr>
      </p:sp>
      <p:sp>
        <p:nvSpPr>
          <p:cNvPr id="12" name="Text 9"/>
          <p:cNvSpPr/>
          <p:nvPr/>
        </p:nvSpPr>
        <p:spPr>
          <a:xfrm>
            <a:off x="6217920" y="1920240"/>
            <a:ext cx="2697480" cy="822960"/>
          </a:xfrm>
          <a:prstGeom prst="rect">
            <a:avLst/>
          </a:prstGeom>
          <a:noFill/>
          <a:ln/>
        </p:spPr>
        <p:txBody>
          <a:bodyPr wrap="square" rtlCol="0" anchor="ctr"/>
          <a:lstStyle/>
          <a:p>
            <a:pPr algn="ctr" indent="0" marL="0">
              <a:buNone/>
            </a:pPr>
            <a:r>
              <a:rPr lang="en-US" sz="3600" b="1" dirty="0">
                <a:solidFill>
                  <a:srgbClr val="F5A623"/>
                </a:solidFill>
                <a:latin typeface="Calibri" pitchFamily="34" charset="0"/>
                <a:ea typeface="Calibri" pitchFamily="34" charset="-122"/>
                <a:cs typeface="Calibri" pitchFamily="34" charset="-120"/>
              </a:rPr>
              <a:t>3x faster</a:t>
            </a:r>
            <a:endParaRPr lang="en-US" sz="3600" dirty="0"/>
          </a:p>
        </p:txBody>
      </p:sp>
      <p:sp>
        <p:nvSpPr>
          <p:cNvPr id="13" name="Text 10"/>
          <p:cNvSpPr/>
          <p:nvPr/>
        </p:nvSpPr>
        <p:spPr>
          <a:xfrm>
            <a:off x="6400800" y="2743200"/>
            <a:ext cx="2331720" cy="822960"/>
          </a:xfrm>
          <a:prstGeom prst="rect">
            <a:avLst/>
          </a:prstGeom>
          <a:noFill/>
          <a:ln/>
        </p:spPr>
        <p:txBody>
          <a:bodyPr wrap="square" rtlCol="0" anchor="ctr"/>
          <a:lstStyle/>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Customer response</a:t>
            </a:r>
            <a:endParaRPr lang="en-US" sz="1200" dirty="0"/>
          </a:p>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time improvement</a:t>
            </a:r>
            <a:endParaRPr lang="en-US" sz="1200" dirty="0"/>
          </a:p>
        </p:txBody>
      </p:sp>
      <p:sp>
        <p:nvSpPr>
          <p:cNvPr id="14" name="Shape 11"/>
          <p:cNvSpPr/>
          <p:nvPr/>
        </p:nvSpPr>
        <p:spPr>
          <a:xfrm>
            <a:off x="9098280" y="1737360"/>
            <a:ext cx="2697480" cy="2286000"/>
          </a:xfrm>
          <a:prstGeom prst="roundRect">
            <a:avLst>
              <a:gd name="adj" fmla="val 4000"/>
            </a:avLst>
          </a:prstGeom>
          <a:solidFill>
            <a:srgbClr val="141C2B"/>
          </a:solidFill>
          <a:ln/>
        </p:spPr>
      </p:sp>
      <p:sp>
        <p:nvSpPr>
          <p:cNvPr id="15" name="Text 12"/>
          <p:cNvSpPr/>
          <p:nvPr/>
        </p:nvSpPr>
        <p:spPr>
          <a:xfrm>
            <a:off x="9098280" y="1920240"/>
            <a:ext cx="2697480" cy="822960"/>
          </a:xfrm>
          <a:prstGeom prst="rect">
            <a:avLst/>
          </a:prstGeom>
          <a:noFill/>
          <a:ln/>
        </p:spPr>
        <p:txBody>
          <a:bodyPr wrap="square" rtlCol="0" anchor="ctr"/>
          <a:lstStyle/>
          <a:p>
            <a:pPr algn="ctr" indent="0" marL="0">
              <a:buNone/>
            </a:pPr>
            <a:r>
              <a:rPr lang="en-US" sz="3600" b="1" dirty="0">
                <a:solidFill>
                  <a:srgbClr val="8B5CF6"/>
                </a:solidFill>
                <a:latin typeface="Calibri" pitchFamily="34" charset="0"/>
                <a:ea typeface="Calibri" pitchFamily="34" charset="-122"/>
                <a:cs typeface="Calibri" pitchFamily="34" charset="-120"/>
              </a:rPr>
              <a:t>30-50%</a:t>
            </a:r>
            <a:endParaRPr lang="en-US" sz="3600" dirty="0"/>
          </a:p>
        </p:txBody>
      </p:sp>
      <p:sp>
        <p:nvSpPr>
          <p:cNvPr id="16" name="Text 13"/>
          <p:cNvSpPr/>
          <p:nvPr/>
        </p:nvSpPr>
        <p:spPr>
          <a:xfrm>
            <a:off x="9281160" y="2743200"/>
            <a:ext cx="2331720" cy="822960"/>
          </a:xfrm>
          <a:prstGeom prst="rect">
            <a:avLst/>
          </a:prstGeom>
          <a:noFill/>
          <a:ln/>
        </p:spPr>
        <p:txBody>
          <a:bodyPr wrap="square" rtlCol="0" anchor="ctr"/>
          <a:lstStyle/>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Staff productivity</a:t>
            </a:r>
            <a:endParaRPr lang="en-US" sz="1200" dirty="0"/>
          </a:p>
          <a:p>
            <a:pPr algn="ctr" indent="0" marL="0">
              <a:lnSpc>
                <a:spcPct val="130000"/>
              </a:lnSpc>
              <a:buNone/>
            </a:pPr>
            <a:r>
              <a:rPr lang="en-US" sz="1200" dirty="0">
                <a:solidFill>
                  <a:srgbClr val="E8EDF3"/>
                </a:solidFill>
                <a:latin typeface="Calibri" pitchFamily="34" charset="0"/>
                <a:ea typeface="Calibri" pitchFamily="34" charset="-122"/>
                <a:cs typeface="Calibri" pitchFamily="34" charset="-120"/>
              </a:rPr>
              <a:t>gain with AI tools</a:t>
            </a:r>
            <a:endParaRPr lang="en-US" sz="1200" dirty="0"/>
          </a:p>
        </p:txBody>
      </p:sp>
      <p:sp>
        <p:nvSpPr>
          <p:cNvPr id="17" name="Shape 14"/>
          <p:cNvSpPr/>
          <p:nvPr/>
        </p:nvSpPr>
        <p:spPr>
          <a:xfrm>
            <a:off x="457200" y="4389120"/>
            <a:ext cx="11247120" cy="1280160"/>
          </a:xfrm>
          <a:prstGeom prst="roundRect">
            <a:avLst>
              <a:gd name="adj" fmla="val 7143"/>
            </a:avLst>
          </a:prstGeom>
          <a:solidFill>
            <a:srgbClr val="141C2B"/>
          </a:solidFill>
          <a:ln/>
        </p:spPr>
      </p:sp>
      <p:sp>
        <p:nvSpPr>
          <p:cNvPr id="18" name="Shape 15"/>
          <p:cNvSpPr/>
          <p:nvPr/>
        </p:nvSpPr>
        <p:spPr>
          <a:xfrm>
            <a:off x="457200" y="4389120"/>
            <a:ext cx="73152" cy="1280160"/>
          </a:xfrm>
          <a:prstGeom prst="rect">
            <a:avLst/>
          </a:prstGeom>
          <a:solidFill>
            <a:srgbClr val="1A8F6E"/>
          </a:solidFill>
          <a:ln/>
        </p:spPr>
      </p:sp>
      <p:sp>
        <p:nvSpPr>
          <p:cNvPr id="19" name="Text 16"/>
          <p:cNvSpPr/>
          <p:nvPr/>
        </p:nvSpPr>
        <p:spPr>
          <a:xfrm>
            <a:off x="914400" y="4480560"/>
            <a:ext cx="10515600" cy="1097280"/>
          </a:xfrm>
          <a:prstGeom prst="rect">
            <a:avLst/>
          </a:prstGeom>
          <a:noFill/>
          <a:ln/>
        </p:spPr>
        <p:txBody>
          <a:bodyPr wrap="square" rtlCol="0" anchor="ctr"/>
          <a:lstStyle/>
          <a:p>
            <a:pPr indent="0" marL="0">
              <a:lnSpc>
                <a:spcPct val="130000"/>
              </a:lnSpc>
              <a:buNone/>
            </a:pPr>
            <a:r>
              <a:rPr lang="en-US" sz="1500" i="1" dirty="0">
                <a:solidFill>
                  <a:srgbClr val="FFFFFF"/>
                </a:solidFill>
                <a:latin typeface="Calibri" pitchFamily="34" charset="0"/>
                <a:ea typeface="Calibri" pitchFamily="34" charset="-122"/>
                <a:cs typeface="Calibri" pitchFamily="34" charset="-120"/>
              </a:rPr>
              <a:t>"For every TZS 1 million invested in AI consulting, our clients typically see TZS 3-5 million in annual savings through reduced manual work, faster processes, and fewer errors."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1E2637"/>
                </a:solidFill>
                <a:latin typeface="Calibri" pitchFamily="34" charset="0"/>
                <a:ea typeface="Calibri" pitchFamily="34" charset="-122"/>
                <a:cs typeface="Calibri" pitchFamily="34" charset="-120"/>
              </a:rPr>
              <a:t>Why Malon Labs</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718096"/>
                </a:solidFill>
                <a:latin typeface="Calibri" pitchFamily="34" charset="0"/>
                <a:ea typeface="Calibri" pitchFamily="34" charset="-122"/>
                <a:cs typeface="Calibri" pitchFamily="34" charset="-120"/>
              </a:rPr>
              <a:t>Five reasons we are the right partner for your AI journey</a:t>
            </a:r>
            <a:endParaRPr lang="en-US" sz="1600" dirty="0"/>
          </a:p>
        </p:txBody>
      </p:sp>
      <p:sp>
        <p:nvSpPr>
          <p:cNvPr id="5" name="Shape 2"/>
          <p:cNvSpPr/>
          <p:nvPr/>
        </p:nvSpPr>
        <p:spPr>
          <a:xfrm>
            <a:off x="640080" y="1463040"/>
            <a:ext cx="10881360" cy="777240"/>
          </a:xfrm>
          <a:prstGeom prst="roundRect">
            <a:avLst>
              <a:gd name="adj" fmla="val 11765"/>
            </a:avLst>
          </a:prstGeom>
          <a:solidFill>
            <a:srgbClr val="FFFFFF"/>
          </a:solidFill>
          <a:ln/>
          <a:effectLst>
            <a:outerShdw sx="100000" sy="100000" kx="0" ky="0" algn="bl" rotWithShape="0" blurRad="101600" dist="25400" dir="16200000">
              <a:srgbClr val="000000">
                <a:alpha val="15000"/>
              </a:srgbClr>
            </a:outerShdw>
          </a:effectLst>
        </p:spPr>
      </p:sp>
      <p:sp>
        <p:nvSpPr>
          <p:cNvPr id="6" name="Text 3"/>
          <p:cNvSpPr/>
          <p:nvPr/>
        </p:nvSpPr>
        <p:spPr>
          <a:xfrm>
            <a:off x="914400" y="1508760"/>
            <a:ext cx="640080" cy="685800"/>
          </a:xfrm>
          <a:prstGeom prst="rect">
            <a:avLst/>
          </a:prstGeom>
          <a:noFill/>
          <a:ln/>
        </p:spPr>
        <p:txBody>
          <a:bodyPr wrap="square" rtlCol="0" anchor="ctr"/>
          <a:lstStyle/>
          <a:p>
            <a:pPr indent="0" marL="0">
              <a:buNone/>
            </a:pPr>
            <a:r>
              <a:rPr lang="en-US" sz="2400" b="1" dirty="0">
                <a:solidFill>
                  <a:srgbClr val="1A8F6E"/>
                </a:solidFill>
                <a:latin typeface="Calibri" pitchFamily="34" charset="0"/>
                <a:ea typeface="Calibri" pitchFamily="34" charset="-122"/>
                <a:cs typeface="Calibri" pitchFamily="34" charset="-120"/>
              </a:rPr>
              <a:t>01</a:t>
            </a:r>
            <a:endParaRPr lang="en-US" sz="2400" dirty="0"/>
          </a:p>
        </p:txBody>
      </p:sp>
      <p:sp>
        <p:nvSpPr>
          <p:cNvPr id="7" name="Text 4"/>
          <p:cNvSpPr/>
          <p:nvPr/>
        </p:nvSpPr>
        <p:spPr>
          <a:xfrm>
            <a:off x="1645920" y="1508760"/>
            <a:ext cx="2743200" cy="6858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Local Context Expertise</a:t>
            </a:r>
            <a:endParaRPr lang="en-US" sz="1600" dirty="0"/>
          </a:p>
        </p:txBody>
      </p:sp>
      <p:sp>
        <p:nvSpPr>
          <p:cNvPr id="8" name="Text 5"/>
          <p:cNvSpPr/>
          <p:nvPr/>
        </p:nvSpPr>
        <p:spPr>
          <a:xfrm>
            <a:off x="4389120" y="1508760"/>
            <a:ext cx="6858000" cy="685800"/>
          </a:xfrm>
          <a:prstGeom prst="rect">
            <a:avLst/>
          </a:prstGeom>
          <a:noFill/>
          <a:ln/>
        </p:spPr>
        <p:txBody>
          <a:bodyPr wrap="square" rtlCol="0" anchor="ctr"/>
          <a:lstStyle/>
          <a:p>
            <a:pPr indent="0" marL="0">
              <a:lnSpc>
                <a:spcPct val="125000"/>
              </a:lnSpc>
              <a:buNone/>
            </a:pPr>
            <a:r>
              <a:rPr lang="en-US" sz="1200" dirty="0">
                <a:solidFill>
                  <a:srgbClr val="2D3748"/>
                </a:solidFill>
                <a:latin typeface="Calibri" pitchFamily="34" charset="0"/>
                <a:ea typeface="Calibri" pitchFamily="34" charset="-122"/>
                <a:cs typeface="Calibri" pitchFamily="34" charset="-120"/>
              </a:rPr>
              <a:t>We understand Tanzanian business culture, regulations, and infrastructure limitations — including internet reliability</a:t>
            </a:r>
            <a:endParaRPr lang="en-US" sz="1200" dirty="0"/>
          </a:p>
        </p:txBody>
      </p:sp>
      <p:sp>
        <p:nvSpPr>
          <p:cNvPr id="9" name="Shape 6"/>
          <p:cNvSpPr/>
          <p:nvPr/>
        </p:nvSpPr>
        <p:spPr>
          <a:xfrm>
            <a:off x="640080" y="2423160"/>
            <a:ext cx="10881360" cy="777240"/>
          </a:xfrm>
          <a:prstGeom prst="roundRect">
            <a:avLst>
              <a:gd name="adj" fmla="val 11765"/>
            </a:avLst>
          </a:prstGeom>
          <a:solidFill>
            <a:srgbClr val="FFFFFF"/>
          </a:solidFill>
          <a:ln/>
          <a:effectLst>
            <a:outerShdw sx="100000" sy="100000" kx="0" ky="0" algn="bl" rotWithShape="0" blurRad="101600" dist="25400" dir="16200000">
              <a:srgbClr val="000000">
                <a:alpha val="15000"/>
              </a:srgbClr>
            </a:outerShdw>
          </a:effectLst>
        </p:spPr>
      </p:sp>
      <p:sp>
        <p:nvSpPr>
          <p:cNvPr id="10" name="Text 7"/>
          <p:cNvSpPr/>
          <p:nvPr/>
        </p:nvSpPr>
        <p:spPr>
          <a:xfrm>
            <a:off x="914400" y="2468880"/>
            <a:ext cx="640080" cy="685800"/>
          </a:xfrm>
          <a:prstGeom prst="rect">
            <a:avLst/>
          </a:prstGeom>
          <a:noFill/>
          <a:ln/>
        </p:spPr>
        <p:txBody>
          <a:bodyPr wrap="square" rtlCol="0" anchor="ctr"/>
          <a:lstStyle/>
          <a:p>
            <a:pPr indent="0" marL="0">
              <a:buNone/>
            </a:pPr>
            <a:r>
              <a:rPr lang="en-US" sz="2400" b="1" dirty="0">
                <a:solidFill>
                  <a:srgbClr val="1A8F6E"/>
                </a:solidFill>
                <a:latin typeface="Calibri" pitchFamily="34" charset="0"/>
                <a:ea typeface="Calibri" pitchFamily="34" charset="-122"/>
                <a:cs typeface="Calibri" pitchFamily="34" charset="-120"/>
              </a:rPr>
              <a:t>02</a:t>
            </a:r>
            <a:endParaRPr lang="en-US" sz="2400" dirty="0"/>
          </a:p>
        </p:txBody>
      </p:sp>
      <p:sp>
        <p:nvSpPr>
          <p:cNvPr id="11" name="Text 8"/>
          <p:cNvSpPr/>
          <p:nvPr/>
        </p:nvSpPr>
        <p:spPr>
          <a:xfrm>
            <a:off x="1645920" y="2468880"/>
            <a:ext cx="2743200" cy="6858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Practical, Not Theoretical</a:t>
            </a:r>
            <a:endParaRPr lang="en-US" sz="1600" dirty="0"/>
          </a:p>
        </p:txBody>
      </p:sp>
      <p:sp>
        <p:nvSpPr>
          <p:cNvPr id="12" name="Text 9"/>
          <p:cNvSpPr/>
          <p:nvPr/>
        </p:nvSpPr>
        <p:spPr>
          <a:xfrm>
            <a:off x="4389120" y="2468880"/>
            <a:ext cx="6858000" cy="685800"/>
          </a:xfrm>
          <a:prstGeom prst="rect">
            <a:avLst/>
          </a:prstGeom>
          <a:noFill/>
          <a:ln/>
        </p:spPr>
        <p:txBody>
          <a:bodyPr wrap="square" rtlCol="0" anchor="ctr"/>
          <a:lstStyle/>
          <a:p>
            <a:pPr indent="0" marL="0">
              <a:lnSpc>
                <a:spcPct val="125000"/>
              </a:lnSpc>
              <a:buNone/>
            </a:pPr>
            <a:r>
              <a:rPr lang="en-US" sz="1200" dirty="0">
                <a:solidFill>
                  <a:srgbClr val="2D3748"/>
                </a:solidFill>
                <a:latin typeface="Calibri" pitchFamily="34" charset="0"/>
                <a:ea typeface="Calibri" pitchFamily="34" charset="-122"/>
                <a:cs typeface="Calibri" pitchFamily="34" charset="-120"/>
              </a:rPr>
              <a:t>Every recommendation comes with hands-on implementation. We don't just write reports — we build and deploy solutions</a:t>
            </a:r>
            <a:endParaRPr lang="en-US" sz="1200" dirty="0"/>
          </a:p>
        </p:txBody>
      </p:sp>
      <p:sp>
        <p:nvSpPr>
          <p:cNvPr id="13" name="Shape 10"/>
          <p:cNvSpPr/>
          <p:nvPr/>
        </p:nvSpPr>
        <p:spPr>
          <a:xfrm>
            <a:off x="640080" y="3383280"/>
            <a:ext cx="10881360" cy="777240"/>
          </a:xfrm>
          <a:prstGeom prst="roundRect">
            <a:avLst>
              <a:gd name="adj" fmla="val 11765"/>
            </a:avLst>
          </a:prstGeom>
          <a:solidFill>
            <a:srgbClr val="FFFFFF"/>
          </a:solidFill>
          <a:ln/>
          <a:effectLst>
            <a:outerShdw sx="100000" sy="100000" kx="0" ky="0" algn="bl" rotWithShape="0" blurRad="101600" dist="25400" dir="16200000">
              <a:srgbClr val="000000">
                <a:alpha val="15000"/>
              </a:srgbClr>
            </a:outerShdw>
          </a:effectLst>
        </p:spPr>
      </p:sp>
      <p:sp>
        <p:nvSpPr>
          <p:cNvPr id="14" name="Text 11"/>
          <p:cNvSpPr/>
          <p:nvPr/>
        </p:nvSpPr>
        <p:spPr>
          <a:xfrm>
            <a:off x="914400" y="3429000"/>
            <a:ext cx="640080" cy="685800"/>
          </a:xfrm>
          <a:prstGeom prst="rect">
            <a:avLst/>
          </a:prstGeom>
          <a:noFill/>
          <a:ln/>
        </p:spPr>
        <p:txBody>
          <a:bodyPr wrap="square" rtlCol="0" anchor="ctr"/>
          <a:lstStyle/>
          <a:p>
            <a:pPr indent="0" marL="0">
              <a:buNone/>
            </a:pPr>
            <a:r>
              <a:rPr lang="en-US" sz="2400" b="1" dirty="0">
                <a:solidFill>
                  <a:srgbClr val="1A8F6E"/>
                </a:solidFill>
                <a:latin typeface="Calibri" pitchFamily="34" charset="0"/>
                <a:ea typeface="Calibri" pitchFamily="34" charset="-122"/>
                <a:cs typeface="Calibri" pitchFamily="34" charset="-120"/>
              </a:rPr>
              <a:t>03</a:t>
            </a:r>
            <a:endParaRPr lang="en-US" sz="2400" dirty="0"/>
          </a:p>
        </p:txBody>
      </p:sp>
      <p:sp>
        <p:nvSpPr>
          <p:cNvPr id="15" name="Text 12"/>
          <p:cNvSpPr/>
          <p:nvPr/>
        </p:nvSpPr>
        <p:spPr>
          <a:xfrm>
            <a:off x="1645920" y="3429000"/>
            <a:ext cx="2743200" cy="6858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ROI-Focused</a:t>
            </a:r>
            <a:endParaRPr lang="en-US" sz="1600" dirty="0"/>
          </a:p>
        </p:txBody>
      </p:sp>
      <p:sp>
        <p:nvSpPr>
          <p:cNvPr id="16" name="Text 13"/>
          <p:cNvSpPr/>
          <p:nvPr/>
        </p:nvSpPr>
        <p:spPr>
          <a:xfrm>
            <a:off x="4389120" y="3429000"/>
            <a:ext cx="6858000" cy="685800"/>
          </a:xfrm>
          <a:prstGeom prst="rect">
            <a:avLst/>
          </a:prstGeom>
          <a:noFill/>
          <a:ln/>
        </p:spPr>
        <p:txBody>
          <a:bodyPr wrap="square" rtlCol="0" anchor="ctr"/>
          <a:lstStyle/>
          <a:p>
            <a:pPr indent="0" marL="0">
              <a:lnSpc>
                <a:spcPct val="125000"/>
              </a:lnSpc>
              <a:buNone/>
            </a:pPr>
            <a:r>
              <a:rPr lang="en-US" sz="1200" dirty="0">
                <a:solidFill>
                  <a:srgbClr val="2D3748"/>
                </a:solidFill>
                <a:latin typeface="Calibri" pitchFamily="34" charset="0"/>
                <a:ea typeface="Calibri" pitchFamily="34" charset="-122"/>
                <a:cs typeface="Calibri" pitchFamily="34" charset="-120"/>
              </a:rPr>
              <a:t>We measure success in hours saved, costs reduced, and revenue gained. Every engagement includes measurable targets</a:t>
            </a:r>
            <a:endParaRPr lang="en-US" sz="1200" dirty="0"/>
          </a:p>
        </p:txBody>
      </p:sp>
      <p:sp>
        <p:nvSpPr>
          <p:cNvPr id="17" name="Shape 14"/>
          <p:cNvSpPr/>
          <p:nvPr/>
        </p:nvSpPr>
        <p:spPr>
          <a:xfrm>
            <a:off x="640080" y="4343400"/>
            <a:ext cx="10881360" cy="777240"/>
          </a:xfrm>
          <a:prstGeom prst="roundRect">
            <a:avLst>
              <a:gd name="adj" fmla="val 11765"/>
            </a:avLst>
          </a:prstGeom>
          <a:solidFill>
            <a:srgbClr val="FFFFFF"/>
          </a:solidFill>
          <a:ln/>
          <a:effectLst>
            <a:outerShdw sx="100000" sy="100000" kx="0" ky="0" algn="bl" rotWithShape="0" blurRad="101600" dist="25400" dir="16200000">
              <a:srgbClr val="000000">
                <a:alpha val="15000"/>
              </a:srgbClr>
            </a:outerShdw>
          </a:effectLst>
        </p:spPr>
      </p:sp>
      <p:sp>
        <p:nvSpPr>
          <p:cNvPr id="18" name="Text 15"/>
          <p:cNvSpPr/>
          <p:nvPr/>
        </p:nvSpPr>
        <p:spPr>
          <a:xfrm>
            <a:off x="914400" y="4389120"/>
            <a:ext cx="640080" cy="685800"/>
          </a:xfrm>
          <a:prstGeom prst="rect">
            <a:avLst/>
          </a:prstGeom>
          <a:noFill/>
          <a:ln/>
        </p:spPr>
        <p:txBody>
          <a:bodyPr wrap="square" rtlCol="0" anchor="ctr"/>
          <a:lstStyle/>
          <a:p>
            <a:pPr indent="0" marL="0">
              <a:buNone/>
            </a:pPr>
            <a:r>
              <a:rPr lang="en-US" sz="2400" b="1" dirty="0">
                <a:solidFill>
                  <a:srgbClr val="1A8F6E"/>
                </a:solidFill>
                <a:latin typeface="Calibri" pitchFamily="34" charset="0"/>
                <a:ea typeface="Calibri" pitchFamily="34" charset="-122"/>
                <a:cs typeface="Calibri" pitchFamily="34" charset="-120"/>
              </a:rPr>
              <a:t>04</a:t>
            </a:r>
            <a:endParaRPr lang="en-US" sz="2400" dirty="0"/>
          </a:p>
        </p:txBody>
      </p:sp>
      <p:sp>
        <p:nvSpPr>
          <p:cNvPr id="19" name="Text 16"/>
          <p:cNvSpPr/>
          <p:nvPr/>
        </p:nvSpPr>
        <p:spPr>
          <a:xfrm>
            <a:off x="1645920" y="4389120"/>
            <a:ext cx="2743200" cy="6858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Ongoing Partnership</a:t>
            </a:r>
            <a:endParaRPr lang="en-US" sz="1600" dirty="0"/>
          </a:p>
        </p:txBody>
      </p:sp>
      <p:sp>
        <p:nvSpPr>
          <p:cNvPr id="20" name="Text 17"/>
          <p:cNvSpPr/>
          <p:nvPr/>
        </p:nvSpPr>
        <p:spPr>
          <a:xfrm>
            <a:off x="4389120" y="4389120"/>
            <a:ext cx="6858000" cy="685800"/>
          </a:xfrm>
          <a:prstGeom prst="rect">
            <a:avLst/>
          </a:prstGeom>
          <a:noFill/>
          <a:ln/>
        </p:spPr>
        <p:txBody>
          <a:bodyPr wrap="square" rtlCol="0" anchor="ctr"/>
          <a:lstStyle/>
          <a:p>
            <a:pPr indent="0" marL="0">
              <a:lnSpc>
                <a:spcPct val="125000"/>
              </a:lnSpc>
              <a:buNone/>
            </a:pPr>
            <a:r>
              <a:rPr lang="en-US" sz="1200" dirty="0">
                <a:solidFill>
                  <a:srgbClr val="2D3748"/>
                </a:solidFill>
                <a:latin typeface="Calibri" pitchFamily="34" charset="0"/>
                <a:ea typeface="Calibri" pitchFamily="34" charset="-122"/>
                <a:cs typeface="Calibri" pitchFamily="34" charset="-120"/>
              </a:rPr>
              <a:t>We don't consult and leave. Our retainer model ensures lasting impact with continuous support and optimization</a:t>
            </a:r>
            <a:endParaRPr lang="en-US" sz="1200" dirty="0"/>
          </a:p>
        </p:txBody>
      </p:sp>
      <p:sp>
        <p:nvSpPr>
          <p:cNvPr id="21" name="Shape 18"/>
          <p:cNvSpPr/>
          <p:nvPr/>
        </p:nvSpPr>
        <p:spPr>
          <a:xfrm>
            <a:off x="640080" y="5303520"/>
            <a:ext cx="10881360" cy="777240"/>
          </a:xfrm>
          <a:prstGeom prst="roundRect">
            <a:avLst>
              <a:gd name="adj" fmla="val 11765"/>
            </a:avLst>
          </a:prstGeom>
          <a:solidFill>
            <a:srgbClr val="FFFFFF"/>
          </a:solidFill>
          <a:ln/>
          <a:effectLst>
            <a:outerShdw sx="100000" sy="100000" kx="0" ky="0" algn="bl" rotWithShape="0" blurRad="101600" dist="25400" dir="16200000">
              <a:srgbClr val="000000">
                <a:alpha val="15000"/>
              </a:srgbClr>
            </a:outerShdw>
          </a:effectLst>
        </p:spPr>
      </p:sp>
      <p:sp>
        <p:nvSpPr>
          <p:cNvPr id="22" name="Text 19"/>
          <p:cNvSpPr/>
          <p:nvPr/>
        </p:nvSpPr>
        <p:spPr>
          <a:xfrm>
            <a:off x="914400" y="5349240"/>
            <a:ext cx="640080" cy="685800"/>
          </a:xfrm>
          <a:prstGeom prst="rect">
            <a:avLst/>
          </a:prstGeom>
          <a:noFill/>
          <a:ln/>
        </p:spPr>
        <p:txBody>
          <a:bodyPr wrap="square" rtlCol="0" anchor="ctr"/>
          <a:lstStyle/>
          <a:p>
            <a:pPr indent="0" marL="0">
              <a:buNone/>
            </a:pPr>
            <a:r>
              <a:rPr lang="en-US" sz="2400" b="1" dirty="0">
                <a:solidFill>
                  <a:srgbClr val="1A8F6E"/>
                </a:solidFill>
                <a:latin typeface="Calibri" pitchFamily="34" charset="0"/>
                <a:ea typeface="Calibri" pitchFamily="34" charset="-122"/>
                <a:cs typeface="Calibri" pitchFamily="34" charset="-120"/>
              </a:rPr>
              <a:t>05</a:t>
            </a:r>
            <a:endParaRPr lang="en-US" sz="2400" dirty="0"/>
          </a:p>
        </p:txBody>
      </p:sp>
      <p:sp>
        <p:nvSpPr>
          <p:cNvPr id="23" name="Text 20"/>
          <p:cNvSpPr/>
          <p:nvPr/>
        </p:nvSpPr>
        <p:spPr>
          <a:xfrm>
            <a:off x="1645920" y="5349240"/>
            <a:ext cx="2743200" cy="685800"/>
          </a:xfrm>
          <a:prstGeom prst="rect">
            <a:avLst/>
          </a:prstGeom>
          <a:noFill/>
          <a:ln/>
        </p:spPr>
        <p:txBody>
          <a:bodyPr wrap="square" rtlCol="0" anchor="ctr"/>
          <a:lstStyle/>
          <a:p>
            <a:pPr indent="0" marL="0">
              <a:buNone/>
            </a:pPr>
            <a:r>
              <a:rPr lang="en-US" sz="1600" b="1" dirty="0">
                <a:solidFill>
                  <a:srgbClr val="1E2637"/>
                </a:solidFill>
                <a:latin typeface="Calibri" pitchFamily="34" charset="0"/>
                <a:ea typeface="Calibri" pitchFamily="34" charset="-122"/>
                <a:cs typeface="Calibri" pitchFamily="34" charset="-120"/>
              </a:rPr>
              <a:t>Full-Stack Capability</a:t>
            </a:r>
            <a:endParaRPr lang="en-US" sz="1600" dirty="0"/>
          </a:p>
        </p:txBody>
      </p:sp>
      <p:sp>
        <p:nvSpPr>
          <p:cNvPr id="24" name="Text 21"/>
          <p:cNvSpPr/>
          <p:nvPr/>
        </p:nvSpPr>
        <p:spPr>
          <a:xfrm>
            <a:off x="4389120" y="5349240"/>
            <a:ext cx="6858000" cy="685800"/>
          </a:xfrm>
          <a:prstGeom prst="rect">
            <a:avLst/>
          </a:prstGeom>
          <a:noFill/>
          <a:ln/>
        </p:spPr>
        <p:txBody>
          <a:bodyPr wrap="square" rtlCol="0" anchor="ctr"/>
          <a:lstStyle/>
          <a:p>
            <a:pPr indent="0" marL="0">
              <a:lnSpc>
                <a:spcPct val="125000"/>
              </a:lnSpc>
              <a:buNone/>
            </a:pPr>
            <a:r>
              <a:rPr lang="en-US" sz="1200" dirty="0">
                <a:solidFill>
                  <a:srgbClr val="2D3748"/>
                </a:solidFill>
                <a:latin typeface="Calibri" pitchFamily="34" charset="0"/>
                <a:ea typeface="Calibri" pitchFamily="34" charset="-122"/>
                <a:cs typeface="Calibri" pitchFamily="34" charset="-120"/>
              </a:rPr>
              <a:t>Unlike pure consultancies, we have in-house development and IT teams to build and manage whatever we recommend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640080" y="274320"/>
            <a:ext cx="1088136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Getting Started</a:t>
            </a:r>
            <a:endParaRPr lang="en-US" sz="3200" dirty="0"/>
          </a:p>
        </p:txBody>
      </p:sp>
      <p:sp>
        <p:nvSpPr>
          <p:cNvPr id="4" name="Text 1"/>
          <p:cNvSpPr/>
          <p:nvPr/>
        </p:nvSpPr>
        <p:spPr>
          <a:xfrm>
            <a:off x="640080" y="914400"/>
            <a:ext cx="10881360" cy="457200"/>
          </a:xfrm>
          <a:prstGeom prst="rect">
            <a:avLst/>
          </a:prstGeom>
          <a:noFill/>
          <a:ln/>
        </p:spPr>
        <p:txBody>
          <a:bodyPr wrap="square" rtlCol="0" anchor="ctr"/>
          <a:lstStyle/>
          <a:p>
            <a:pPr algn="l" indent="0" marL="0">
              <a:buNone/>
            </a:pPr>
            <a:r>
              <a:rPr lang="en-US" sz="1600" dirty="0">
                <a:solidFill>
                  <a:srgbClr val="E8EDF3"/>
                </a:solidFill>
                <a:latin typeface="Calibri" pitchFamily="34" charset="0"/>
                <a:ea typeface="Calibri" pitchFamily="34" charset="-122"/>
                <a:cs typeface="Calibri" pitchFamily="34" charset="-120"/>
              </a:rPr>
              <a:t>Your journey from first conversation to measurable results</a:t>
            </a:r>
            <a:endParaRPr lang="en-US" sz="1600" dirty="0"/>
          </a:p>
        </p:txBody>
      </p:sp>
      <p:sp>
        <p:nvSpPr>
          <p:cNvPr id="5" name="Shape 2"/>
          <p:cNvSpPr/>
          <p:nvPr/>
        </p:nvSpPr>
        <p:spPr>
          <a:xfrm>
            <a:off x="457200" y="1645920"/>
            <a:ext cx="11247120" cy="777240"/>
          </a:xfrm>
          <a:prstGeom prst="roundRect">
            <a:avLst>
              <a:gd name="adj" fmla="val 7059"/>
            </a:avLst>
          </a:prstGeom>
          <a:solidFill>
            <a:srgbClr val="141C2B"/>
          </a:solidFill>
          <a:ln/>
        </p:spPr>
      </p:sp>
      <p:sp>
        <p:nvSpPr>
          <p:cNvPr id="6" name="Text 3"/>
          <p:cNvSpPr/>
          <p:nvPr/>
        </p:nvSpPr>
        <p:spPr>
          <a:xfrm>
            <a:off x="640080" y="1645920"/>
            <a:ext cx="640080" cy="777240"/>
          </a:xfrm>
          <a:prstGeom prst="rect">
            <a:avLst/>
          </a:prstGeom>
          <a:noFill/>
          <a:ln/>
        </p:spPr>
        <p:txBody>
          <a:bodyPr wrap="square" rtlCol="0" anchor="ctr"/>
          <a:lstStyle/>
          <a:p>
            <a:pPr algn="ctr" indent="0" marL="0">
              <a:buNone/>
            </a:pPr>
            <a:r>
              <a:rPr lang="en-US" sz="2400" dirty="0">
                <a:solidFill>
                  <a:srgbClr val="1A8F6E"/>
                </a:solidFill>
                <a:latin typeface="Calibri" pitchFamily="34" charset="0"/>
                <a:ea typeface="Calibri" pitchFamily="34" charset="-122"/>
                <a:cs typeface="Calibri" pitchFamily="34" charset="-120"/>
              </a:rPr>
              <a:t>①</a:t>
            </a:r>
            <a:endParaRPr lang="en-US" sz="2400" dirty="0"/>
          </a:p>
        </p:txBody>
      </p:sp>
      <p:sp>
        <p:nvSpPr>
          <p:cNvPr id="7" name="Text 4"/>
          <p:cNvSpPr/>
          <p:nvPr/>
        </p:nvSpPr>
        <p:spPr>
          <a:xfrm>
            <a:off x="1371600" y="1645920"/>
            <a:ext cx="2286000" cy="7772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Free Consultation</a:t>
            </a:r>
            <a:endParaRPr lang="en-US" sz="1600" dirty="0"/>
          </a:p>
        </p:txBody>
      </p:sp>
      <p:sp>
        <p:nvSpPr>
          <p:cNvPr id="8" name="Text 5"/>
          <p:cNvSpPr/>
          <p:nvPr/>
        </p:nvSpPr>
        <p:spPr>
          <a:xfrm>
            <a:off x="3749040" y="1645920"/>
            <a:ext cx="6217920" cy="777240"/>
          </a:xfrm>
          <a:prstGeom prst="rect">
            <a:avLst/>
          </a:prstGeom>
          <a:noFill/>
          <a:ln/>
        </p:spPr>
        <p:txBody>
          <a:bodyPr wrap="square" rtlCol="0" anchor="ctr"/>
          <a:lstStyle/>
          <a:p>
            <a:pPr indent="0" marL="0">
              <a:lnSpc>
                <a:spcPct val="120000"/>
              </a:lnSpc>
              <a:buNone/>
            </a:pPr>
            <a:r>
              <a:rPr lang="en-US" sz="1200" dirty="0">
                <a:solidFill>
                  <a:srgbClr val="E8EDF3"/>
                </a:solidFill>
                <a:latin typeface="Calibri" pitchFamily="34" charset="0"/>
                <a:ea typeface="Calibri" pitchFamily="34" charset="-122"/>
                <a:cs typeface="Calibri" pitchFamily="34" charset="-120"/>
              </a:rPr>
              <a:t>30-minute call to understand your business and identify quick wins</a:t>
            </a:r>
            <a:endParaRPr lang="en-US" sz="1200" dirty="0"/>
          </a:p>
        </p:txBody>
      </p:sp>
      <p:sp>
        <p:nvSpPr>
          <p:cNvPr id="9" name="Text 6"/>
          <p:cNvSpPr/>
          <p:nvPr/>
        </p:nvSpPr>
        <p:spPr>
          <a:xfrm>
            <a:off x="10058400" y="1645920"/>
            <a:ext cx="1463040" cy="777240"/>
          </a:xfrm>
          <a:prstGeom prst="rect">
            <a:avLst/>
          </a:prstGeom>
          <a:noFill/>
          <a:ln/>
        </p:spPr>
        <p:txBody>
          <a:bodyPr wrap="square"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Day 1</a:t>
            </a:r>
            <a:endParaRPr lang="en-US" sz="1100" dirty="0"/>
          </a:p>
        </p:txBody>
      </p:sp>
      <p:sp>
        <p:nvSpPr>
          <p:cNvPr id="10" name="Shape 7"/>
          <p:cNvSpPr/>
          <p:nvPr/>
        </p:nvSpPr>
        <p:spPr>
          <a:xfrm>
            <a:off x="457200" y="2560320"/>
            <a:ext cx="11247120" cy="777240"/>
          </a:xfrm>
          <a:prstGeom prst="roundRect">
            <a:avLst>
              <a:gd name="adj" fmla="val 7059"/>
            </a:avLst>
          </a:prstGeom>
          <a:solidFill>
            <a:srgbClr val="141C2B"/>
          </a:solidFill>
          <a:ln/>
        </p:spPr>
      </p:sp>
      <p:sp>
        <p:nvSpPr>
          <p:cNvPr id="11" name="Text 8"/>
          <p:cNvSpPr/>
          <p:nvPr/>
        </p:nvSpPr>
        <p:spPr>
          <a:xfrm>
            <a:off x="640080" y="2560320"/>
            <a:ext cx="640080" cy="777240"/>
          </a:xfrm>
          <a:prstGeom prst="rect">
            <a:avLst/>
          </a:prstGeom>
          <a:noFill/>
          <a:ln/>
        </p:spPr>
        <p:txBody>
          <a:bodyPr wrap="square" rtlCol="0" anchor="ctr"/>
          <a:lstStyle/>
          <a:p>
            <a:pPr algn="ctr" indent="0" marL="0">
              <a:buNone/>
            </a:pPr>
            <a:r>
              <a:rPr lang="en-US" sz="2400" dirty="0">
                <a:solidFill>
                  <a:srgbClr val="1A8F6E"/>
                </a:solidFill>
                <a:latin typeface="Calibri" pitchFamily="34" charset="0"/>
                <a:ea typeface="Calibri" pitchFamily="34" charset="-122"/>
                <a:cs typeface="Calibri" pitchFamily="34" charset="-120"/>
              </a:rPr>
              <a:t>②</a:t>
            </a:r>
            <a:endParaRPr lang="en-US" sz="2400" dirty="0"/>
          </a:p>
        </p:txBody>
      </p:sp>
      <p:sp>
        <p:nvSpPr>
          <p:cNvPr id="12" name="Text 9"/>
          <p:cNvSpPr/>
          <p:nvPr/>
        </p:nvSpPr>
        <p:spPr>
          <a:xfrm>
            <a:off x="1371600" y="2560320"/>
            <a:ext cx="2286000" cy="7772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 Readiness Assessment</a:t>
            </a:r>
            <a:endParaRPr lang="en-US" sz="1600" dirty="0"/>
          </a:p>
        </p:txBody>
      </p:sp>
      <p:sp>
        <p:nvSpPr>
          <p:cNvPr id="13" name="Text 10"/>
          <p:cNvSpPr/>
          <p:nvPr/>
        </p:nvSpPr>
        <p:spPr>
          <a:xfrm>
            <a:off x="3749040" y="2560320"/>
            <a:ext cx="6217920" cy="777240"/>
          </a:xfrm>
          <a:prstGeom prst="rect">
            <a:avLst/>
          </a:prstGeom>
          <a:noFill/>
          <a:ln/>
        </p:spPr>
        <p:txBody>
          <a:bodyPr wrap="square" rtlCol="0" anchor="ctr"/>
          <a:lstStyle/>
          <a:p>
            <a:pPr indent="0" marL="0">
              <a:lnSpc>
                <a:spcPct val="120000"/>
              </a:lnSpc>
              <a:buNone/>
            </a:pPr>
            <a:r>
              <a:rPr lang="en-US" sz="1200" dirty="0">
                <a:solidFill>
                  <a:srgbClr val="E8EDF3"/>
                </a:solidFill>
                <a:latin typeface="Calibri" pitchFamily="34" charset="0"/>
                <a:ea typeface="Calibri" pitchFamily="34" charset="-122"/>
                <a:cs typeface="Calibri" pitchFamily="34" charset="-120"/>
              </a:rPr>
              <a:t>Complete our structured questionnaire to baseline your current state</a:t>
            </a:r>
            <a:endParaRPr lang="en-US" sz="1200" dirty="0"/>
          </a:p>
        </p:txBody>
      </p:sp>
      <p:sp>
        <p:nvSpPr>
          <p:cNvPr id="14" name="Text 11"/>
          <p:cNvSpPr/>
          <p:nvPr/>
        </p:nvSpPr>
        <p:spPr>
          <a:xfrm>
            <a:off x="10058400" y="2560320"/>
            <a:ext cx="1463040" cy="777240"/>
          </a:xfrm>
          <a:prstGeom prst="rect">
            <a:avLst/>
          </a:prstGeom>
          <a:noFill/>
          <a:ln/>
        </p:spPr>
        <p:txBody>
          <a:bodyPr wrap="square"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Day 1-3</a:t>
            </a:r>
            <a:endParaRPr lang="en-US" sz="1100" dirty="0"/>
          </a:p>
        </p:txBody>
      </p:sp>
      <p:sp>
        <p:nvSpPr>
          <p:cNvPr id="15" name="Shape 12"/>
          <p:cNvSpPr/>
          <p:nvPr/>
        </p:nvSpPr>
        <p:spPr>
          <a:xfrm>
            <a:off x="457200" y="3474720"/>
            <a:ext cx="11247120" cy="777240"/>
          </a:xfrm>
          <a:prstGeom prst="roundRect">
            <a:avLst>
              <a:gd name="adj" fmla="val 7059"/>
            </a:avLst>
          </a:prstGeom>
          <a:solidFill>
            <a:srgbClr val="141C2B"/>
          </a:solidFill>
          <a:ln/>
        </p:spPr>
      </p:sp>
      <p:sp>
        <p:nvSpPr>
          <p:cNvPr id="16" name="Text 13"/>
          <p:cNvSpPr/>
          <p:nvPr/>
        </p:nvSpPr>
        <p:spPr>
          <a:xfrm>
            <a:off x="640080" y="3474720"/>
            <a:ext cx="640080" cy="777240"/>
          </a:xfrm>
          <a:prstGeom prst="rect">
            <a:avLst/>
          </a:prstGeom>
          <a:noFill/>
          <a:ln/>
        </p:spPr>
        <p:txBody>
          <a:bodyPr wrap="square" rtlCol="0" anchor="ctr"/>
          <a:lstStyle/>
          <a:p>
            <a:pPr algn="ctr" indent="0" marL="0">
              <a:buNone/>
            </a:pPr>
            <a:r>
              <a:rPr lang="en-US" sz="2400" dirty="0">
                <a:solidFill>
                  <a:srgbClr val="1A8F6E"/>
                </a:solidFill>
                <a:latin typeface="Calibri" pitchFamily="34" charset="0"/>
                <a:ea typeface="Calibri" pitchFamily="34" charset="-122"/>
                <a:cs typeface="Calibri" pitchFamily="34" charset="-120"/>
              </a:rPr>
              <a:t>③</a:t>
            </a:r>
            <a:endParaRPr lang="en-US" sz="2400" dirty="0"/>
          </a:p>
        </p:txBody>
      </p:sp>
      <p:sp>
        <p:nvSpPr>
          <p:cNvPr id="17" name="Text 14"/>
          <p:cNvSpPr/>
          <p:nvPr/>
        </p:nvSpPr>
        <p:spPr>
          <a:xfrm>
            <a:off x="1371600" y="3474720"/>
            <a:ext cx="2286000" cy="7772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Opportunity Report</a:t>
            </a:r>
            <a:endParaRPr lang="en-US" sz="1600" dirty="0"/>
          </a:p>
        </p:txBody>
      </p:sp>
      <p:sp>
        <p:nvSpPr>
          <p:cNvPr id="18" name="Text 15"/>
          <p:cNvSpPr/>
          <p:nvPr/>
        </p:nvSpPr>
        <p:spPr>
          <a:xfrm>
            <a:off x="3749040" y="3474720"/>
            <a:ext cx="6217920" cy="777240"/>
          </a:xfrm>
          <a:prstGeom prst="rect">
            <a:avLst/>
          </a:prstGeom>
          <a:noFill/>
          <a:ln/>
        </p:spPr>
        <p:txBody>
          <a:bodyPr wrap="square" rtlCol="0" anchor="ctr"/>
          <a:lstStyle/>
          <a:p>
            <a:pPr indent="0" marL="0">
              <a:lnSpc>
                <a:spcPct val="120000"/>
              </a:lnSpc>
              <a:buNone/>
            </a:pPr>
            <a:r>
              <a:rPr lang="en-US" sz="1200" dirty="0">
                <a:solidFill>
                  <a:srgbClr val="E8EDF3"/>
                </a:solidFill>
                <a:latin typeface="Calibri" pitchFamily="34" charset="0"/>
                <a:ea typeface="Calibri" pitchFamily="34" charset="-122"/>
                <a:cs typeface="Calibri" pitchFamily="34" charset="-120"/>
              </a:rPr>
              <a:t>Receive a customized report with prioritized recommendations and ROI projections</a:t>
            </a:r>
            <a:endParaRPr lang="en-US" sz="1200" dirty="0"/>
          </a:p>
        </p:txBody>
      </p:sp>
      <p:sp>
        <p:nvSpPr>
          <p:cNvPr id="19" name="Text 16"/>
          <p:cNvSpPr/>
          <p:nvPr/>
        </p:nvSpPr>
        <p:spPr>
          <a:xfrm>
            <a:off x="10058400" y="3474720"/>
            <a:ext cx="1463040" cy="777240"/>
          </a:xfrm>
          <a:prstGeom prst="rect">
            <a:avLst/>
          </a:prstGeom>
          <a:noFill/>
          <a:ln/>
        </p:spPr>
        <p:txBody>
          <a:bodyPr wrap="square"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Week 1</a:t>
            </a:r>
            <a:endParaRPr lang="en-US" sz="1100" dirty="0"/>
          </a:p>
        </p:txBody>
      </p:sp>
      <p:sp>
        <p:nvSpPr>
          <p:cNvPr id="20" name="Shape 17"/>
          <p:cNvSpPr/>
          <p:nvPr/>
        </p:nvSpPr>
        <p:spPr>
          <a:xfrm>
            <a:off x="457200" y="4389120"/>
            <a:ext cx="11247120" cy="777240"/>
          </a:xfrm>
          <a:prstGeom prst="roundRect">
            <a:avLst>
              <a:gd name="adj" fmla="val 7059"/>
            </a:avLst>
          </a:prstGeom>
          <a:solidFill>
            <a:srgbClr val="141C2B"/>
          </a:solidFill>
          <a:ln/>
        </p:spPr>
      </p:sp>
      <p:sp>
        <p:nvSpPr>
          <p:cNvPr id="21" name="Text 18"/>
          <p:cNvSpPr/>
          <p:nvPr/>
        </p:nvSpPr>
        <p:spPr>
          <a:xfrm>
            <a:off x="640080" y="4389120"/>
            <a:ext cx="640080" cy="777240"/>
          </a:xfrm>
          <a:prstGeom prst="rect">
            <a:avLst/>
          </a:prstGeom>
          <a:noFill/>
          <a:ln/>
        </p:spPr>
        <p:txBody>
          <a:bodyPr wrap="square" rtlCol="0" anchor="ctr"/>
          <a:lstStyle/>
          <a:p>
            <a:pPr algn="ctr" indent="0" marL="0">
              <a:buNone/>
            </a:pPr>
            <a:r>
              <a:rPr lang="en-US" sz="2400" dirty="0">
                <a:solidFill>
                  <a:srgbClr val="1A8F6E"/>
                </a:solidFill>
                <a:latin typeface="Calibri" pitchFamily="34" charset="0"/>
                <a:ea typeface="Calibri" pitchFamily="34" charset="-122"/>
                <a:cs typeface="Calibri" pitchFamily="34" charset="-120"/>
              </a:rPr>
              <a:t>④</a:t>
            </a:r>
            <a:endParaRPr lang="en-US" sz="2400" dirty="0"/>
          </a:p>
        </p:txBody>
      </p:sp>
      <p:sp>
        <p:nvSpPr>
          <p:cNvPr id="22" name="Text 19"/>
          <p:cNvSpPr/>
          <p:nvPr/>
        </p:nvSpPr>
        <p:spPr>
          <a:xfrm>
            <a:off x="1371600" y="4389120"/>
            <a:ext cx="2286000" cy="7772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Proposal &amp; Kickoff</a:t>
            </a:r>
            <a:endParaRPr lang="en-US" sz="1600" dirty="0"/>
          </a:p>
        </p:txBody>
      </p:sp>
      <p:sp>
        <p:nvSpPr>
          <p:cNvPr id="23" name="Text 20"/>
          <p:cNvSpPr/>
          <p:nvPr/>
        </p:nvSpPr>
        <p:spPr>
          <a:xfrm>
            <a:off x="3749040" y="4389120"/>
            <a:ext cx="6217920" cy="777240"/>
          </a:xfrm>
          <a:prstGeom prst="rect">
            <a:avLst/>
          </a:prstGeom>
          <a:noFill/>
          <a:ln/>
        </p:spPr>
        <p:txBody>
          <a:bodyPr wrap="square" rtlCol="0" anchor="ctr"/>
          <a:lstStyle/>
          <a:p>
            <a:pPr indent="0" marL="0">
              <a:lnSpc>
                <a:spcPct val="120000"/>
              </a:lnSpc>
              <a:buNone/>
            </a:pPr>
            <a:r>
              <a:rPr lang="en-US" sz="1200" dirty="0">
                <a:solidFill>
                  <a:srgbClr val="E8EDF3"/>
                </a:solidFill>
                <a:latin typeface="Calibri" pitchFamily="34" charset="0"/>
                <a:ea typeface="Calibri" pitchFamily="34" charset="-122"/>
                <a:cs typeface="Calibri" pitchFamily="34" charset="-120"/>
              </a:rPr>
              <a:t>Agree on scope, timeline, and investment — then we start delivering results</a:t>
            </a:r>
            <a:endParaRPr lang="en-US" sz="1200" dirty="0"/>
          </a:p>
        </p:txBody>
      </p:sp>
      <p:sp>
        <p:nvSpPr>
          <p:cNvPr id="24" name="Text 21"/>
          <p:cNvSpPr/>
          <p:nvPr/>
        </p:nvSpPr>
        <p:spPr>
          <a:xfrm>
            <a:off x="10058400" y="4389120"/>
            <a:ext cx="1463040" cy="777240"/>
          </a:xfrm>
          <a:prstGeom prst="rect">
            <a:avLst/>
          </a:prstGeom>
          <a:noFill/>
          <a:ln/>
        </p:spPr>
        <p:txBody>
          <a:bodyPr wrap="square"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Week 2</a:t>
            </a:r>
            <a:endParaRPr lang="en-US" sz="1100" dirty="0"/>
          </a:p>
        </p:txBody>
      </p:sp>
      <p:sp>
        <p:nvSpPr>
          <p:cNvPr id="25" name="Shape 22"/>
          <p:cNvSpPr/>
          <p:nvPr/>
        </p:nvSpPr>
        <p:spPr>
          <a:xfrm>
            <a:off x="457200" y="5303520"/>
            <a:ext cx="11247120" cy="777240"/>
          </a:xfrm>
          <a:prstGeom prst="roundRect">
            <a:avLst>
              <a:gd name="adj" fmla="val 7059"/>
            </a:avLst>
          </a:prstGeom>
          <a:solidFill>
            <a:srgbClr val="141C2B"/>
          </a:solidFill>
          <a:ln/>
        </p:spPr>
      </p:sp>
      <p:sp>
        <p:nvSpPr>
          <p:cNvPr id="26" name="Text 23"/>
          <p:cNvSpPr/>
          <p:nvPr/>
        </p:nvSpPr>
        <p:spPr>
          <a:xfrm>
            <a:off x="640080" y="5303520"/>
            <a:ext cx="640080" cy="777240"/>
          </a:xfrm>
          <a:prstGeom prst="rect">
            <a:avLst/>
          </a:prstGeom>
          <a:noFill/>
          <a:ln/>
        </p:spPr>
        <p:txBody>
          <a:bodyPr wrap="square" rtlCol="0" anchor="ctr"/>
          <a:lstStyle/>
          <a:p>
            <a:pPr algn="ctr" indent="0" marL="0">
              <a:buNone/>
            </a:pPr>
            <a:r>
              <a:rPr lang="en-US" sz="2400" dirty="0">
                <a:solidFill>
                  <a:srgbClr val="1A8F6E"/>
                </a:solidFill>
                <a:latin typeface="Calibri" pitchFamily="34" charset="0"/>
                <a:ea typeface="Calibri" pitchFamily="34" charset="-122"/>
                <a:cs typeface="Calibri" pitchFamily="34" charset="-120"/>
              </a:rPr>
              <a:t>⑤</a:t>
            </a:r>
            <a:endParaRPr lang="en-US" sz="2400" dirty="0"/>
          </a:p>
        </p:txBody>
      </p:sp>
      <p:sp>
        <p:nvSpPr>
          <p:cNvPr id="27" name="Text 24"/>
          <p:cNvSpPr/>
          <p:nvPr/>
        </p:nvSpPr>
        <p:spPr>
          <a:xfrm>
            <a:off x="1371600" y="5303520"/>
            <a:ext cx="2286000" cy="7772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Implementation</a:t>
            </a:r>
            <a:endParaRPr lang="en-US" sz="1600" dirty="0"/>
          </a:p>
        </p:txBody>
      </p:sp>
      <p:sp>
        <p:nvSpPr>
          <p:cNvPr id="28" name="Text 25"/>
          <p:cNvSpPr/>
          <p:nvPr/>
        </p:nvSpPr>
        <p:spPr>
          <a:xfrm>
            <a:off x="3749040" y="5303520"/>
            <a:ext cx="6217920" cy="777240"/>
          </a:xfrm>
          <a:prstGeom prst="rect">
            <a:avLst/>
          </a:prstGeom>
          <a:noFill/>
          <a:ln/>
        </p:spPr>
        <p:txBody>
          <a:bodyPr wrap="square" rtlCol="0" anchor="ctr"/>
          <a:lstStyle/>
          <a:p>
            <a:pPr indent="0" marL="0">
              <a:lnSpc>
                <a:spcPct val="120000"/>
              </a:lnSpc>
              <a:buNone/>
            </a:pPr>
            <a:r>
              <a:rPr lang="en-US" sz="1200" dirty="0">
                <a:solidFill>
                  <a:srgbClr val="E8EDF3"/>
                </a:solidFill>
                <a:latin typeface="Calibri" pitchFamily="34" charset="0"/>
                <a:ea typeface="Calibri" pitchFamily="34" charset="-122"/>
                <a:cs typeface="Calibri" pitchFamily="34" charset="-120"/>
              </a:rPr>
              <a:t>Tools deployed, staff trained, automations running, measurable outcomes delivered</a:t>
            </a:r>
            <a:endParaRPr lang="en-US" sz="1200" dirty="0"/>
          </a:p>
        </p:txBody>
      </p:sp>
      <p:sp>
        <p:nvSpPr>
          <p:cNvPr id="29" name="Text 26"/>
          <p:cNvSpPr/>
          <p:nvPr/>
        </p:nvSpPr>
        <p:spPr>
          <a:xfrm>
            <a:off x="10058400" y="5303520"/>
            <a:ext cx="1463040" cy="777240"/>
          </a:xfrm>
          <a:prstGeom prst="rect">
            <a:avLst/>
          </a:prstGeom>
          <a:noFill/>
          <a:ln/>
        </p:spPr>
        <p:txBody>
          <a:bodyPr wrap="square" rtlCol="0" anchor="ctr"/>
          <a:lstStyle/>
          <a:p>
            <a:pPr algn="r" indent="0" marL="0">
              <a:buNone/>
            </a:pPr>
            <a:r>
              <a:rPr lang="en-US" sz="1100" b="1" dirty="0">
                <a:solidFill>
                  <a:srgbClr val="F5A623"/>
                </a:solidFill>
                <a:latin typeface="Calibri" pitchFamily="34" charset="0"/>
                <a:ea typeface="Calibri" pitchFamily="34" charset="-122"/>
                <a:cs typeface="Calibri" pitchFamily="34" charset="-120"/>
              </a:rPr>
              <a:t>Week 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4937760" y="731520"/>
            <a:ext cx="2286000" cy="2286000"/>
          </a:xfrm>
          <a:prstGeom prst="rect">
            <a:avLst/>
          </a:prstGeom>
        </p:spPr>
      </p:pic>
      <p:sp>
        <p:nvSpPr>
          <p:cNvPr id="4" name="Text 0"/>
          <p:cNvSpPr/>
          <p:nvPr/>
        </p:nvSpPr>
        <p:spPr>
          <a:xfrm>
            <a:off x="640080" y="3108960"/>
            <a:ext cx="10881360" cy="73152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Let's Get Started</a:t>
            </a:r>
            <a:endParaRPr lang="en-US" sz="4000" dirty="0"/>
          </a:p>
        </p:txBody>
      </p:sp>
      <p:sp>
        <p:nvSpPr>
          <p:cNvPr id="5" name="Text 1"/>
          <p:cNvSpPr/>
          <p:nvPr/>
        </p:nvSpPr>
        <p:spPr>
          <a:xfrm>
            <a:off x="640080" y="3749040"/>
            <a:ext cx="10881360" cy="457200"/>
          </a:xfrm>
          <a:prstGeom prst="rect">
            <a:avLst/>
          </a:prstGeom>
          <a:noFill/>
          <a:ln/>
        </p:spPr>
        <p:txBody>
          <a:bodyPr wrap="square" rtlCol="0" anchor="ctr"/>
          <a:lstStyle/>
          <a:p>
            <a:pPr algn="ctr" indent="0" marL="0">
              <a:buNone/>
            </a:pPr>
            <a:r>
              <a:rPr lang="en-US" sz="1800" dirty="0">
                <a:solidFill>
                  <a:srgbClr val="1A8F6E"/>
                </a:solidFill>
                <a:latin typeface="Calibri" pitchFamily="34" charset="0"/>
                <a:ea typeface="Calibri" pitchFamily="34" charset="-122"/>
                <a:cs typeface="Calibri" pitchFamily="34" charset="-120"/>
              </a:rPr>
              <a:t>Book your free 30-minute AI Opportunity Consultation today</a:t>
            </a:r>
            <a:endParaRPr lang="en-US" sz="1800" dirty="0"/>
          </a:p>
        </p:txBody>
      </p:sp>
      <p:sp>
        <p:nvSpPr>
          <p:cNvPr id="6" name="Shape 2"/>
          <p:cNvSpPr/>
          <p:nvPr/>
        </p:nvSpPr>
        <p:spPr>
          <a:xfrm>
            <a:off x="4754880" y="4389120"/>
            <a:ext cx="2651760" cy="36576"/>
          </a:xfrm>
          <a:prstGeom prst="rect">
            <a:avLst/>
          </a:prstGeom>
          <a:solidFill>
            <a:srgbClr val="1A8F6E"/>
          </a:solidFill>
          <a:ln/>
        </p:spPr>
      </p:sp>
      <p:sp>
        <p:nvSpPr>
          <p:cNvPr id="7" name="Text 3"/>
          <p:cNvSpPr/>
          <p:nvPr/>
        </p:nvSpPr>
        <p:spPr>
          <a:xfrm>
            <a:off x="2743200" y="4663440"/>
            <a:ext cx="2560320" cy="4572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info@malonlabs.com</a:t>
            </a:r>
            <a:endParaRPr lang="en-US" sz="1400" dirty="0"/>
          </a:p>
        </p:txBody>
      </p:sp>
      <p:sp>
        <p:nvSpPr>
          <p:cNvPr id="8" name="Text 4"/>
          <p:cNvSpPr/>
          <p:nvPr/>
        </p:nvSpPr>
        <p:spPr>
          <a:xfrm>
            <a:off x="5303520" y="4663440"/>
            <a:ext cx="2560320" cy="4572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+255 766 629 933</a:t>
            </a:r>
            <a:endParaRPr lang="en-US" sz="1400" dirty="0"/>
          </a:p>
        </p:txBody>
      </p:sp>
      <p:sp>
        <p:nvSpPr>
          <p:cNvPr id="9" name="Text 5"/>
          <p:cNvSpPr/>
          <p:nvPr/>
        </p:nvSpPr>
        <p:spPr>
          <a:xfrm>
            <a:off x="7863840" y="4663440"/>
            <a:ext cx="2560320" cy="45720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malonlabs.com</a:t>
            </a:r>
            <a:endParaRPr lang="en-US" sz="1400" dirty="0"/>
          </a:p>
        </p:txBody>
      </p:sp>
      <p:sp>
        <p:nvSpPr>
          <p:cNvPr id="10" name="Text 6"/>
          <p:cNvSpPr/>
          <p:nvPr/>
        </p:nvSpPr>
        <p:spPr>
          <a:xfrm>
            <a:off x="640080" y="5394960"/>
            <a:ext cx="10881360" cy="457200"/>
          </a:xfrm>
          <a:prstGeom prst="rect">
            <a:avLst/>
          </a:prstGeom>
          <a:noFill/>
          <a:ln/>
        </p:spPr>
        <p:txBody>
          <a:bodyPr wrap="square" rtlCol="0" anchor="ctr"/>
          <a:lstStyle/>
          <a:p>
            <a:pPr algn="ctr" indent="0" marL="0">
              <a:buNone/>
            </a:pPr>
            <a:r>
              <a:rPr lang="en-US" sz="1600" i="1" dirty="0">
                <a:solidFill>
                  <a:srgbClr val="718096"/>
                </a:solidFill>
                <a:latin typeface="Calibri" pitchFamily="34" charset="0"/>
                <a:ea typeface="Calibri" pitchFamily="34" charset="-122"/>
                <a:cs typeface="Calibri" pitchFamily="34" charset="-120"/>
              </a:rPr>
              <a:t>Smarter Operations. Stronger Business.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Malon Labs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Malon Labs Consulting — Pitch Deck</dc:title>
  <dc:subject>AI &amp; IT Consulting Pitch Deck</dc:subject>
  <dc:creator>Malon Labs Ltd</dc:creator>
  <cp:lastModifiedBy>Malon Labs Ltd</cp:lastModifiedBy>
  <cp:revision>1</cp:revision>
  <dcterms:created xsi:type="dcterms:W3CDTF">2026-02-16T18:33:44Z</dcterms:created>
  <dcterms:modified xsi:type="dcterms:W3CDTF">2026-02-16T18:33:44Z</dcterms:modified>
</cp:coreProperties>
</file>